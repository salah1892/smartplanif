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observations portent sur cette version du code, et non sur une application en production. Les propositions sont distinguées des fonctions existantes.</a:t>
            </a:r>
          </a:p>
          <a:p/>
          <a:p>
            <a:r>
              <a:t>Source : README.md ; AllocateDay.cs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Verdict : bonne base de moteur d’aide à la décision, mais pas de preuve d’optimalité ni de validation industrielle établie.</a:t>
            </a:r>
          </a:p>
          <a:p/>
          <a:p>
            <a:r>
              <a:t>Source : ConstructionStrategies.cs ; AlnsImprover.cs ; ObjectiveFunction.cs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s’agit d’une affectation multiressource avec contraintes temporelles et cumulatives. Ne pas confondre planification de ressources et conception du réseau de transport.</a:t>
            </a:r>
          </a:p>
          <a:p/>
          <a:p>
            <a:r>
              <a:t>Source : Entities.cs ; TripAllocator.cs ; AllocateDay.cs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formulation est une reformulation pédagogique ; le code n’instancie pas ces variables dans un solveur mathématique. Ajouter exclusions temporelles, heures, amplitude, catégories et indisponibilités pour un modèle exact.</a:t>
            </a:r>
          </a:p>
          <a:p/>
          <a:p>
            <a:r>
              <a:t>Source : Modélisation analytique à partir de TripAllocator.cs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les règles ne proposent pas les trois modes. Les limites par défaut sont des paramètres à valider et non une preuve de conformité réglementaire.</a:t>
            </a:r>
          </a:p>
          <a:p/>
          <a:p>
            <a:r>
              <a:t>Source : ConstraintCatalog.cs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schéma du README est simplifié. La dépendance logique importante est l’inversion : l’application consomme des ports, l’infrastructure les implémente ; le domaine ne dépend pas de MySQL ou de Blazor.</a:t>
            </a:r>
          </a:p>
          <a:p/>
          <a:p>
            <a:r>
              <a:t>Source : Program.cs ; Ports.cs ; fichiers .csproj</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chargement est effectué avant la boucle d’optimisation. Le calcul est placé dans Task.Run. La limite MaxSeconds concerne l’ALNS, pas l’intégralité de la requête.</a:t>
            </a:r>
          </a:p>
          <a:p/>
          <a:p>
            <a:r>
              <a:t>Source : AllocateDay.cs ; PlanningOptions.cs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L’état partagé évite de traiter chauffeurs et receveurs comme deux pools indépendants de personnes. Les copies sont simples à raisonner mais ont un coût à mesurer.</a:t>
            </a:r>
          </a:p>
          <a:p/>
          <a:p>
            <a:r>
              <a:t>Source : ScheduleBook.cs ; ResourceSchedule.cs ; AllocationState.cs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même bus peut être compté dans plusieurs catégories compatibles. Les tests par type n’examinent pas tous les sous-ensembles de demandes qui se disputent les mêmes bus.</a:t>
            </a:r>
          </a:p>
          <a:p/>
          <a:p>
            <a:r>
              <a:t>Source : FeasibilityAnalyzer.cs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sont visibles dans les expressions du diagnostic. Le résultat doit rester indicatif tant que son modèle de disponibilité n’est pas aligné sur la politique.</a:t>
            </a:r>
          </a:p>
          <a:p/>
          <a:p>
            <a:r>
              <a:t>Source : FeasibilityAnalyzer.cs ; ConstraintCatalog.cs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méthode ne revient pas sur ses choix pendant la construction. Le workflow lui ajoute néanmoins la passe finale de complétion : isoler le temps de construction pour une comparaison scientifique propre.</a:t>
            </a:r>
          </a:p>
          <a:p/>
          <a:p>
            <a:r>
              <a:t>Source : ConstructionStrategies.cs ; TripAllocator.cs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tension représente surtout la rareté des bus, pas la totalité des tensions humaines. Le max(1, ...) évite une division par zéro mais masque la distinction entre zéro et un bus compatible dans le dénominateur.</a:t>
            </a:r>
          </a:p>
          <a:p/>
          <a:p>
            <a:r>
              <a:t>Source : ConstructionStrategies.cs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difficulté est une mesure de rareté, pas le nombre exact de triplets. L’ordre est calculé avant les insertions de la phase : il n’est pas réévalué après chaque choix.</a:t>
            </a:r>
          </a:p>
          <a:p/>
          <a:p>
            <a:r>
              <a:t>Source : TripAllocator.cs ; CandidateSelector.cs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cas concerne les pools mixtes, pas le cas où tous les agents sont interchangeables. Correction proposée : examiner les paires distinctes réalisables et maximiser leur score total ; ajouter un test de non-régression.</a:t>
            </a:r>
          </a:p>
          <a:p/>
          <a:p>
            <a:r>
              <a:t>Source : TripAllocator.TryAssign ; exemple analytique</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terme d’équité bus est absent de la formule simplifiée du README. La fenêtre J−1 à J+1 contribue à la charge : l’objectif n’est donc pas strictement une équité du seul jour J.</a:t>
            </a:r>
          </a:p>
          <a:p/>
          <a:p>
            <a:r>
              <a:t>Source : ObjectiveFunction.cs ; AllocationPolicy.cs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L’objectif final du rapport est évalué avant la reconstruction des scores exacts. Cette reconstruction ne réinjecte pas ses valeurs dans l’état. Éviter de présenter FinalObjective comme une évaluation exacte des scores affichés.</a:t>
            </a:r>
          </a:p>
          <a:p/>
          <a:p>
            <a:r>
              <a:t>Source : ObjectiveFunction.cs ; PolicyValidator.cs ; PlanEvaluator.cs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réparation réutilise le même moteur de règles et de choix local. Elle ne garantit pas de réinsérer tous les voyages. Faisable signifie ici respect des règles dures, pas couverture intégrale.</a:t>
            </a:r>
          </a:p>
          <a:p/>
          <a:p>
            <a:r>
              <a:t>Source : AlnsImprover.cs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opérateurs sont réellement présents ; aucune réparation regret-k n’est implémentée. Une suppression d’agent agrégeant ses deux postes serait une extension utile du voisinage par ressource.</a:t>
            </a:r>
          </a:p>
          <a:p/>
          <a:p>
            <a:r>
              <a:t>Source : Operators.cs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s’agit d’une adaptation à chaque itération des opérateurs sélectionnés, pas d’une réestimation par segment. L’efficacité d’un couple d’opérateurs n’est pas apprise séparément.</a:t>
            </a:r>
          </a:p>
          <a:p/>
          <a:p>
            <a:r>
              <a:t>Source : AlnsImprover.cs ; AllocationPolicy.cs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valeurs sont les valeurs par défaut des classes ; les paramètres JSON ou ceux de l’interface peuvent les remplacer. Pour la répétabilité, fixer données, ordre, politique et budget en itérations.</a:t>
            </a:r>
          </a:p>
          <a:p/>
          <a:p>
            <a:r>
              <a:t>Source : AllocationPolicy.cs ; AlnsImprover.cs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est indépendant du chemin de construction, mais pas une seconde spécification indépendante. Une erreur commune à une règle échappe aux deux mécanismes. KpiService reconstruit une fenêtre de contrôle différente.</a:t>
            </a:r>
          </a:p>
          <a:p/>
          <a:p>
            <a:r>
              <a:t>Source : PlanCompleter.cs ; PlanValidator.cs ; AllocateDay.cs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transaction débute après le calcul. Aucune vérification explicite de version de l’instantané n’apparaît dans cette méthode. Proposition : versionner le jour ou revalider sous contrôle de concurrence avant commit.</a:t>
            </a:r>
          </a:p>
          <a:p/>
          <a:p>
            <a:r>
              <a:t>Source : AllocateDay.cs ; MySqlAssignmentRepository.cs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planning sans chevauchement n’est pas nécessairement exécutable géographiquement. Prévoir temps de transfert + préparation entre les stations, ainsi que des qualifications et indisponibilités fiables.</a:t>
            </a:r>
          </a:p>
          <a:p/>
          <a:p>
            <a:r>
              <a:t>Source : SoftRules.cs ; BusRules.cs ; README.md</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déduire un défaut de sécurité de toute l’infrastructure déployée à partir de ce fichier seul. Pour une exploitation multiutilisateur, examiner également proxy, hébergement, identité et droits applicatifs.</a:t>
            </a:r>
          </a:p>
          <a:p/>
          <a:p>
            <a:r>
              <a:t>Source : ResourceSchedule.cs ; Program.cs ; Ports.cs ; AllocateDay.cs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Coût d’une insertion : filtrer et noter les ressources, avec scans de leurs plannings, puis trier les candidats. Répété en réparation et en mesure de difficulté, ce coût doit être profilé plutôt que résumé par une complexité linéaire trompeuse.</a:t>
            </a:r>
          </a:p>
          <a:p/>
          <a:p>
            <a:r>
              <a:t>Source : README.md ; ResourceSchedule.cs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Effectuer des ablations : phases seules, ALNS non adaptatif, sans bruit, sans chaque opérateur. Comparer la construction seule et la chaîne complète, car la passe finale modifie les résultats.</a:t>
            </a:r>
          </a:p>
          <a:p/>
          <a:p>
            <a:r>
              <a:t>Source : Recommandations issues des limites observées</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Critères de sortie : tests de non-régression pour chaque défaut, absence de violations sur jeux métier approuvés et protocole de benchmark reproductible. Les propositions P1/P2 ne décrivent pas des fonctionnalités existantes.</a:t>
            </a:r>
          </a:p>
          <a:p/>
          <a:p>
            <a:r>
              <a:t>Source : Synthèse de l’audit statique</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des classes citées dans chaque diapositive. Les résultats du README sont des déclarations du projet, non des mesures reproduites. Les contre-exemples et recommandations constituent l’analyse de cet audit.</a:t>
            </a:r>
          </a:p>
          <a:p/>
          <a:p>
            <a:r>
              <a:t>Source : Fichier fourni : salah1892-smartplanif-ff9b3838b8c3f414.txt</a:t>
            </a:r>
          </a:p>
          <a:p>
            <a:r>
              <a:t>Archive utilisateur [file:1].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SmartPlanif | Audit des algorithmes et de l’architecture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Allocation quotidienne bus / chauffeur / receveur</a:t>
            </a:r>
          </a:p>
          <a:p>
            <a:pPr>
              <a:spcAft>
                <a:spcPts val="1600"/>
              </a:spcAft>
              <a:defRPr sz="2200" b="0">
                <a:solidFill>
                  <a:srgbClr val="142B45"/>
                </a:solidFill>
                <a:latin typeface="Aptos"/>
              </a:defRPr>
            </a:pPr>
            <a:r>
              <a:t>• Lecture critique du code fourni, sous l’angle recherche opérationnelle</a:t>
            </a:r>
          </a:p>
          <a:p>
            <a:pPr>
              <a:spcAft>
                <a:spcPts val="1600"/>
              </a:spcAft>
              <a:defRPr sz="2200" b="0">
                <a:solidFill>
                  <a:srgbClr val="142B45"/>
                </a:solidFill>
                <a:latin typeface="Aptos"/>
              </a:defRPr>
            </a:pPr>
            <a:r>
              <a:t>• Architecture, heuristiques, ALNS, garanties et risques</a:t>
            </a:r>
          </a:p>
          <a:p>
            <a:pPr>
              <a:spcAft>
                <a:spcPts val="1600"/>
              </a:spcAft>
              <a:defRPr sz="2200" b="0">
                <a:solidFill>
                  <a:srgbClr val="142B45"/>
                </a:solidFill>
                <a:latin typeface="Aptos"/>
              </a:defRPr>
            </a:pPr>
            <a:r>
              <a:t>• Périmètre : audit statique ; aucune exécution .NET ou MySQL réalisée</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README.md ; AllocateDay.cs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Synthèse : une approche hybride pertinente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Construction rapide, puis amélioration par ALNS et recuit simulé</a:t>
            </a:r>
          </a:p>
          <a:p>
            <a:pPr>
              <a:spcAft>
                <a:spcPts val="1600"/>
              </a:spcAft>
              <a:defRPr sz="2200" b="0">
                <a:solidFill>
                  <a:srgbClr val="142B45"/>
                </a:solidFill>
                <a:latin typeface="Aptos"/>
              </a:defRPr>
            </a:pPr>
            <a:r>
              <a:t>• Séparation claire entre faisabilité dure et préférences souples</a:t>
            </a:r>
          </a:p>
          <a:p>
            <a:pPr>
              <a:spcAft>
                <a:spcPts val="1600"/>
              </a:spcAft>
              <a:defRPr sz="2200" b="0">
                <a:solidFill>
                  <a:srgbClr val="142B45"/>
                </a:solidFill>
                <a:latin typeface="Aptos"/>
              </a:defRPr>
            </a:pPr>
            <a:r>
              <a:t>• Architecture modulaire et calcul en mémoire</a:t>
            </a:r>
          </a:p>
          <a:p>
            <a:pPr>
              <a:spcAft>
                <a:spcPts val="1600"/>
              </a:spcAft>
              <a:defRPr sz="2200" b="0">
                <a:solidFill>
                  <a:srgbClr val="142B45"/>
                </a:solidFill>
                <a:latin typeface="Aptos"/>
              </a:defRPr>
            </a:pPr>
            <a:r>
              <a:t>• Limites majeures : sélection des agents, objectif approximatif, cohérence du diagnostic</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ConstructionStrategies.cs ; AlnsImprover.cs ; ObjectiveFunction.cs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Quel problème est réellement résolu ?</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Les voyages et leurs horaires sont des données d’entrée</a:t>
            </a:r>
          </a:p>
          <a:p>
            <a:pPr>
              <a:spcAft>
                <a:spcPts val="1600"/>
              </a:spcAft>
              <a:defRPr sz="2200" b="0">
                <a:solidFill>
                  <a:srgbClr val="142B45"/>
                </a:solidFill>
                <a:latin typeface="Aptos"/>
              </a:defRPr>
            </a:pPr>
            <a:r>
              <a:t>• Chaque voyage reçoit un bus et deux agents distincts</a:t>
            </a:r>
          </a:p>
          <a:p>
            <a:pPr>
              <a:spcAft>
                <a:spcPts val="1600"/>
              </a:spcAft>
              <a:defRPr sz="2200" b="0">
                <a:solidFill>
                  <a:srgbClr val="142B45"/>
                </a:solidFill>
                <a:latin typeface="Aptos"/>
              </a:defRPr>
            </a:pPr>
            <a:r>
              <a:t>• Les ressources sont réutilisables si leurs plannings le permettent</a:t>
            </a:r>
          </a:p>
          <a:p>
            <a:pPr>
              <a:spcAft>
                <a:spcPts val="1600"/>
              </a:spcAft>
              <a:defRPr sz="2200" b="0">
                <a:solidFill>
                  <a:srgbClr val="142B45"/>
                </a:solidFill>
                <a:latin typeface="Aptos"/>
              </a:defRPr>
            </a:pPr>
            <a:r>
              <a:t>• Ce n’est pas un calcul complet d’itinéraires ou d’horaires</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Entities.cs ; TripAllocator.cs ; AllocateDay.cs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Formalisation proposée : variables et couverture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x[t,b] = 1 si le bus b réalise le voyage t</a:t>
            </a:r>
          </a:p>
          <a:p>
            <a:pPr>
              <a:spcAft>
                <a:spcPts val="1600"/>
              </a:spcAft>
              <a:defRPr sz="2200" b="0">
                <a:solidFill>
                  <a:srgbClr val="142B45"/>
                </a:solidFill>
                <a:latin typeface="Aptos"/>
              </a:defRPr>
            </a:pPr>
            <a:r>
              <a:t>• y[t,a] et z[t,a] = affectations chauffeur et receveur</a:t>
            </a:r>
          </a:p>
          <a:p>
            <a:pPr>
              <a:spcAft>
                <a:spcPts val="1600"/>
              </a:spcAft>
              <a:defRPr sz="2200" b="0">
                <a:solidFill>
                  <a:srgbClr val="142B45"/>
                </a:solidFill>
                <a:latin typeface="Aptos"/>
              </a:defRPr>
            </a:pPr>
            <a:r>
              <a:t>• u[t] = 1 si le voyage reste non affecté</a:t>
            </a:r>
          </a:p>
          <a:p>
            <a:pPr>
              <a:spcAft>
                <a:spcPts val="1600"/>
              </a:spcAft>
              <a:defRPr sz="2200" b="0">
                <a:solidFill>
                  <a:srgbClr val="142B45"/>
                </a:solidFill>
                <a:latin typeface="Aptos"/>
              </a:defRPr>
            </a:pPr>
            <a:r>
              <a:t>• Pour chaque t : somme x = somme y = somme z = 1 − u[t]</a:t>
            </a:r>
          </a:p>
          <a:p>
            <a:pPr>
              <a:spcAft>
                <a:spcPts val="1600"/>
              </a:spcAft>
              <a:defRPr sz="2200" b="0">
                <a:solidFill>
                  <a:srgbClr val="142B45"/>
                </a:solidFill>
                <a:latin typeface="Aptos"/>
              </a:defRPr>
            </a:pPr>
            <a:r>
              <a:t>• Pour chaque agent a : y[t,a] + z[t,a] ≤ 1</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Modélisation analytique à partir de TripAllocator.cs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Contraintes : les catégories ne sont pas interchangeables</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Verrouillées dures : bus actif, absence de chevauchement bus et agent</a:t>
            </a:r>
          </a:p>
          <a:p>
            <a:pPr>
              <a:spcAft>
                <a:spcPts val="1600"/>
              </a:spcAft>
              <a:defRPr sz="2200" b="0">
                <a:solidFill>
                  <a:srgbClr val="142B45"/>
                </a:solidFill>
                <a:latin typeface="Aptos"/>
              </a:defRPr>
            </a:pPr>
            <a:r>
              <a:t>• Dures désactivables : repos, heures, amplitude, maintenance, kilomètres</a:t>
            </a:r>
          </a:p>
          <a:p>
            <a:pPr>
              <a:spcAft>
                <a:spcPts val="1600"/>
              </a:spcAft>
              <a:defRPr sz="2200" b="0">
                <a:solidFill>
                  <a:srgbClr val="142B45"/>
                </a:solidFill>
                <a:latin typeface="Aptos"/>
              </a:defRPr>
            </a:pPr>
            <a:r>
              <a:t>• Dures ou souples : centre, délégation, catégorie compatible</a:t>
            </a:r>
          </a:p>
          <a:p>
            <a:pPr>
              <a:spcAft>
                <a:spcPts val="1600"/>
              </a:spcAft>
              <a:defRPr sz="2200" b="0">
                <a:solidFill>
                  <a:srgbClr val="142B45"/>
                </a:solidFill>
                <a:latin typeface="Aptos"/>
              </a:defRPr>
            </a:pPr>
            <a:r>
              <a:t>• Préférences pures : continuité, charge faible, âge du bus</a:t>
            </a:r>
          </a:p>
          <a:p>
            <a:pPr>
              <a:spcAft>
                <a:spcPts val="1600"/>
              </a:spcAft>
              <a:defRPr sz="2200" b="0">
                <a:solidFill>
                  <a:srgbClr val="142B45"/>
                </a:solidFill>
                <a:latin typeface="Aptos"/>
              </a:defRPr>
            </a:pPr>
            <a:r>
              <a:t>• La conformité dépend des règles effectivement activées</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ConstraintCatalog.cs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Architecture : responsabilités et dépendances</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Web : composants Blazor en mode Interactive Server</a:t>
            </a:r>
          </a:p>
          <a:p>
            <a:pPr>
              <a:spcAft>
                <a:spcPts val="1600"/>
              </a:spcAft>
              <a:defRPr sz="2200" b="0">
                <a:solidFill>
                  <a:srgbClr val="142B45"/>
                </a:solidFill>
                <a:latin typeface="Aptos"/>
              </a:defRPr>
            </a:pPr>
            <a:r>
              <a:t>• Application : cas d’usage et interfaces de persistance</a:t>
            </a:r>
          </a:p>
          <a:p>
            <a:pPr>
              <a:spcAft>
                <a:spcPts val="1600"/>
              </a:spcAft>
              <a:defRPr sz="2200" b="0">
                <a:solidFill>
                  <a:srgbClr val="142B45"/>
                </a:solidFill>
                <a:latin typeface="Aptos"/>
              </a:defRPr>
            </a:pPr>
            <a:r>
              <a:t>• Domain : entités, règles, plannings, heuristiques et ALNS</a:t>
            </a:r>
          </a:p>
          <a:p>
            <a:pPr>
              <a:spcAft>
                <a:spcPts val="1600"/>
              </a:spcAft>
              <a:defRPr sz="2200" b="0">
                <a:solidFill>
                  <a:srgbClr val="142B45"/>
                </a:solidFill>
                <a:latin typeface="Aptos"/>
              </a:defRPr>
            </a:pPr>
            <a:r>
              <a:t>• Infrastructure : MySQL / Dapper, démonstration, paramètres JSON</a:t>
            </a:r>
          </a:p>
          <a:p>
            <a:pPr>
              <a:spcAft>
                <a:spcPts val="1600"/>
              </a:spcAft>
              <a:defRPr sz="2200" b="0">
                <a:solidFill>
                  <a:srgbClr val="142B45"/>
                </a:solidFill>
                <a:latin typeface="Aptos"/>
              </a:defRPr>
            </a:pPr>
            <a:r>
              <a:t>• Application → Domain ; Infrastructure → Application ; Web compose les services</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Program.cs ; Ports.cs ; fichiers .csproj</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Flux d’une allocation de bout en bout</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1. Contrôler la date et charger la politique</a:t>
            </a:r>
          </a:p>
          <a:p>
            <a:pPr>
              <a:spcAft>
                <a:spcPts val="1600"/>
              </a:spcAft>
              <a:defRPr sz="2200" b="0">
                <a:solidFill>
                  <a:srgbClr val="142B45"/>
                </a:solidFill>
                <a:latin typeface="Aptos"/>
              </a:defRPr>
            </a:pPr>
            <a:r>
              <a:t>• 2. Charger voyages, ressources et affectations sur J−1 à J+1</a:t>
            </a:r>
          </a:p>
          <a:p>
            <a:pPr>
              <a:spcAft>
                <a:spcPts val="1600"/>
              </a:spcAft>
              <a:defRPr sz="2200" b="0">
                <a:solidFill>
                  <a:srgbClr val="142B45"/>
                </a:solidFill>
                <a:latin typeface="Aptos"/>
              </a:defRPr>
            </a:pPr>
            <a:r>
              <a:t>• 3. Distinguer voyages verrouillés et voyages à affecter</a:t>
            </a:r>
          </a:p>
          <a:p>
            <a:pPr>
              <a:spcAft>
                <a:spcPts val="1600"/>
              </a:spcAft>
              <a:defRPr sz="2200" b="0">
                <a:solidFill>
                  <a:srgbClr val="142B45"/>
                </a:solidFill>
                <a:latin typeface="Aptos"/>
              </a:defRPr>
            </a:pPr>
            <a:r>
              <a:t>• 4. Construire, améliorer, compléter, puis contrôler</a:t>
            </a:r>
          </a:p>
          <a:p>
            <a:pPr>
              <a:spcAft>
                <a:spcPts val="1600"/>
              </a:spcAft>
              <a:defRPr sz="2200" b="0">
                <a:solidFill>
                  <a:srgbClr val="142B45"/>
                </a:solidFill>
                <a:latin typeface="Aptos"/>
              </a:defRPr>
            </a:pPr>
            <a:r>
              <a:t>• 5. Enregistrer seulement si les garde-fous le permettent</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AllocateDay.cs ; PlanningOptions.cs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État partagé et planification en mémoire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ScheduleBook conserve les plannings des bus et des agents</a:t>
            </a:r>
          </a:p>
          <a:p>
            <a:pPr>
              <a:spcAft>
                <a:spcPts val="1600"/>
              </a:spcAft>
              <a:defRPr sz="2200" b="0">
                <a:solidFill>
                  <a:srgbClr val="142B45"/>
                </a:solidFill>
                <a:latin typeface="Aptos"/>
              </a:defRPr>
            </a:pPr>
            <a:r>
              <a:t>• Le même planning d’agent couvre ses deux fonctions</a:t>
            </a:r>
          </a:p>
          <a:p>
            <a:pPr>
              <a:spcAft>
                <a:spcPts val="1600"/>
              </a:spcAft>
              <a:defRPr sz="2200" b="0">
                <a:solidFill>
                  <a:srgbClr val="142B45"/>
                </a:solidFill>
                <a:latin typeface="Aptos"/>
              </a:defRPr>
            </a:pPr>
            <a:r>
              <a:t>• Assign / Unassign modifient simultanément les occupations</a:t>
            </a:r>
          </a:p>
          <a:p>
            <a:pPr>
              <a:spcAft>
                <a:spcPts val="1600"/>
              </a:spcAft>
              <a:defRPr sz="2200" b="0">
                <a:solidFill>
                  <a:srgbClr val="142B45"/>
                </a:solidFill>
                <a:latin typeface="Aptos"/>
              </a:defRPr>
            </a:pPr>
            <a:r>
              <a:t>• Clone isole un candidat ALNS du plan courant</a:t>
            </a:r>
          </a:p>
          <a:p>
            <a:pPr>
              <a:spcAft>
                <a:spcPts val="1600"/>
              </a:spcAft>
              <a:defRPr sz="2200" b="0">
                <a:solidFill>
                  <a:srgbClr val="142B45"/>
                </a:solidFill>
                <a:latin typeface="Aptos"/>
              </a:defRPr>
            </a:pPr>
            <a:r>
              <a:t>• Les affectations verrouillées occupent déjà les ressources</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ScheduleBook.cs ; ResourceSchedule.cs ; AllocationState.cs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Phase 0 : diagnostic de capacité</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Pic de simultanéité obtenu par balayage des événements</a:t>
            </a:r>
          </a:p>
          <a:p>
            <a:pPr>
              <a:spcAft>
                <a:spcPts val="1600"/>
              </a:spcAft>
              <a:defRPr sz="2200" b="0">
                <a:solidFill>
                  <a:srgbClr val="142B45"/>
                </a:solidFill>
                <a:latin typeface="Aptos"/>
              </a:defRPr>
            </a:pPr>
            <a:r>
              <a:t>• Les fins passent avant les débuts en cas d’égalité</a:t>
            </a:r>
          </a:p>
          <a:p>
            <a:pPr>
              <a:spcAft>
                <a:spcPts val="1600"/>
              </a:spcAft>
              <a:defRPr sz="2200" b="0">
                <a:solidFill>
                  <a:srgbClr val="142B45"/>
                </a:solidFill>
                <a:latin typeface="Aptos"/>
              </a:defRPr>
            </a:pPr>
            <a:r>
              <a:t>• Comparaisons : bus globaux, bus compatibles par type, agents, heures</a:t>
            </a:r>
          </a:p>
          <a:p>
            <a:pPr>
              <a:spcAft>
                <a:spcPts val="1600"/>
              </a:spcAft>
              <a:defRPr sz="2200" b="0">
                <a:solidFill>
                  <a:srgbClr val="142B45"/>
                </a:solidFill>
                <a:latin typeface="Aptos"/>
              </a:defRPr>
            </a:pPr>
            <a:r>
              <a:t>• Un résultat suffisant n’établit pas la faisabilité globale</a:t>
            </a:r>
          </a:p>
          <a:p>
            <a:pPr>
              <a:spcAft>
                <a:spcPts val="1600"/>
              </a:spcAft>
              <a:defRPr sz="2200" b="0">
                <a:solidFill>
                  <a:srgbClr val="142B45"/>
                </a:solidFill>
                <a:latin typeface="Aptos"/>
              </a:defRPr>
            </a:pPr>
            <a:r>
              <a:t>• Le diagnostic ne soustrait pas explicitement toutes les occupations verrouillées</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FeasibilityAnalyzer.cs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Diagnostic : incohérences à corriger</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Le filtre du jour de repos est appliqué même si A03 est désactivée</a:t>
            </a:r>
          </a:p>
          <a:p>
            <a:pPr>
              <a:spcAft>
                <a:spcPts val="1600"/>
              </a:spcAft>
              <a:defRPr sz="2200" b="0">
                <a:solidFill>
                  <a:srgbClr val="142B45"/>
                </a:solidFill>
                <a:latin typeface="Aptos"/>
              </a:defRPr>
            </a:pPr>
            <a:r>
              <a:t>• Les pics incluent les marges de repos même si A07 / B09 sont désactivées</a:t>
            </a:r>
          </a:p>
          <a:p>
            <a:pPr>
              <a:spcAft>
                <a:spcPts val="1600"/>
              </a:spcAft>
              <a:defRPr sz="2200" b="0">
                <a:solidFill>
                  <a:srgbClr val="142B45"/>
                </a:solidFill>
                <a:latin typeface="Aptos"/>
              </a:defRPr>
            </a:pPr>
            <a:r>
              <a:t>• Le budget d’heures utilise MaxDailyWork même si A08 est désactivée</a:t>
            </a:r>
          </a:p>
          <a:p>
            <a:pPr>
              <a:spcAft>
                <a:spcPts val="1600"/>
              </a:spcAft>
              <a:defRPr sz="2200" b="0">
                <a:solidFill>
                  <a:srgbClr val="142B45"/>
                </a:solidFill>
                <a:latin typeface="Aptos"/>
              </a:defRPr>
            </a:pPr>
            <a:r>
              <a:t>• Risque : annoncer une insuffisance incompatible avec la politique réelle</a:t>
            </a:r>
          </a:p>
          <a:p>
            <a:pPr>
              <a:spcAft>
                <a:spcPts val="1600"/>
              </a:spcAft>
              <a:defRPr sz="2200" b="0">
                <a:solidFill>
                  <a:srgbClr val="142B45"/>
                </a:solidFill>
                <a:latin typeface="Aptos"/>
              </a:defRPr>
            </a:pPr>
            <a:r>
              <a:t>• Partager les règles actives entre diagnostic et allocation</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FeasibilityAnalyzer.cs ; ConstraintCatalog.cs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Heuristique 1 : glouton chronologique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Trier les voyages par départ puis identifiant</a:t>
            </a:r>
          </a:p>
          <a:p>
            <a:pPr>
              <a:spcAft>
                <a:spcPts val="1600"/>
              </a:spcAft>
              <a:defRPr sz="2200" b="0">
                <a:solidFill>
                  <a:srgbClr val="142B45"/>
                </a:solidFill>
                <a:latin typeface="Aptos"/>
              </a:defRPr>
            </a:pPr>
            <a:r>
              <a:t>• Pour chaque voyage : filtrer, noter et choisir les ressources</a:t>
            </a:r>
          </a:p>
          <a:p>
            <a:pPr>
              <a:spcAft>
                <a:spcPts val="1600"/>
              </a:spcAft>
              <a:defRPr sz="2200" b="0">
                <a:solidFill>
                  <a:srgbClr val="142B45"/>
                </a:solidFill>
                <a:latin typeface="Aptos"/>
              </a:defRPr>
            </a:pPr>
            <a:r>
              <a:t>• Conserver immédiatement l’affectation réalisable</a:t>
            </a:r>
          </a:p>
          <a:p>
            <a:pPr>
              <a:spcAft>
                <a:spcPts val="1600"/>
              </a:spcAft>
              <a:defRPr sz="2200" b="0">
                <a:solidFill>
                  <a:srgbClr val="142B45"/>
                </a:solidFill>
                <a:latin typeface="Aptos"/>
              </a:defRPr>
            </a:pPr>
            <a:r>
              <a:t>• Atout : simplicité, référence de comparaison, rapidité potentielle</a:t>
            </a:r>
          </a:p>
          <a:p>
            <a:pPr>
              <a:spcAft>
                <a:spcPts val="1600"/>
              </a:spcAft>
              <a:defRPr sz="2200" b="0">
                <a:solidFill>
                  <a:srgbClr val="142B45"/>
                </a:solidFill>
                <a:latin typeface="Aptos"/>
              </a:defRPr>
            </a:pPr>
            <a:r>
              <a:t>• Faiblesse : un choix local peut consommer une ressource rare</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ConstructionStrategies.cs ; TripAllocator.cs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Heuristique 2 : construction par tension</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Regrouper les voyages par type de ligne</a:t>
            </a:r>
          </a:p>
          <a:p>
            <a:pPr>
              <a:spcAft>
                <a:spcPts val="1600"/>
              </a:spcAft>
              <a:defRPr sz="2200" b="0">
                <a:solidFill>
                  <a:srgbClr val="142B45"/>
                </a:solidFill>
                <a:latin typeface="Aptos"/>
              </a:defRPr>
            </a:pPr>
            <a:r>
              <a:t>• Tension = pic de demande / max(1, bus compatibles)</a:t>
            </a:r>
          </a:p>
          <a:p>
            <a:pPr>
              <a:spcAft>
                <a:spcPts val="1600"/>
              </a:spcAft>
              <a:defRPr sz="2200" b="0">
                <a:solidFill>
                  <a:srgbClr val="142B45"/>
                </a:solidFill>
                <a:latin typeface="Aptos"/>
              </a:defRPr>
            </a:pPr>
            <a:r>
              <a:t>• Traiter les types par tension décroissante</a:t>
            </a:r>
          </a:p>
          <a:p>
            <a:pPr>
              <a:spcAft>
                <a:spcPts val="1600"/>
              </a:spcAft>
              <a:defRPr sz="2200" b="0">
                <a:solidFill>
                  <a:srgbClr val="142B45"/>
                </a:solidFill>
                <a:latin typeface="Aptos"/>
              </a:defRPr>
            </a:pPr>
            <a:r>
              <a:t>• Dans chaque type : traiter les voyages avec le moins d’options</a:t>
            </a:r>
          </a:p>
          <a:p>
            <a:pPr>
              <a:spcAft>
                <a:spcPts val="1600"/>
              </a:spcAft>
              <a:defRPr sz="2200" b="0">
                <a:solidFill>
                  <a:srgbClr val="142B45"/>
                </a:solidFill>
                <a:latin typeface="Aptos"/>
              </a:defRPr>
            </a:pPr>
            <a:r>
              <a:t>• Tous les types partagent le même état de ressources</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ConstructionStrategies.cs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Difficulté et sélection des candidats</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Difficulté = min(bus éligibles, options d’agents)</a:t>
            </a:r>
          </a:p>
          <a:p>
            <a:pPr>
              <a:spcAft>
                <a:spcPts val="1600"/>
              </a:spcAft>
              <a:defRPr sz="2200" b="0">
                <a:solidFill>
                  <a:srgbClr val="142B45"/>
                </a:solidFill>
                <a:latin typeface="Aptos"/>
              </a:defRPr>
            </a:pPr>
            <a:r>
              <a:t>• Options agents = min(chauffeurs, receveurs, union des agents / 2)</a:t>
            </a:r>
          </a:p>
          <a:p>
            <a:pPr>
              <a:spcAft>
                <a:spcPts val="1600"/>
              </a:spcAft>
              <a:defRPr sz="2200" b="0">
                <a:solidFill>
                  <a:srgbClr val="142B45"/>
                </a:solidFill>
                <a:latin typeface="Aptos"/>
              </a:defRPr>
            </a:pPr>
            <a:r>
              <a:t>• Rejeter au premier échec de règle dure</a:t>
            </a:r>
          </a:p>
          <a:p>
            <a:pPr>
              <a:spcAft>
                <a:spcPts val="1600"/>
              </a:spcAft>
              <a:defRPr sz="2200" b="0">
                <a:solidFill>
                  <a:srgbClr val="142B45"/>
                </a:solidFill>
                <a:latin typeface="Aptos"/>
              </a:defRPr>
            </a:pPr>
            <a:r>
              <a:t>• Score souple = somme des poids × valeurs normalisées entre 0 et 1</a:t>
            </a:r>
          </a:p>
          <a:p>
            <a:pPr>
              <a:spcAft>
                <a:spcPts val="1600"/>
              </a:spcAft>
              <a:defRPr sz="2200" b="0">
                <a:solidFill>
                  <a:srgbClr val="142B45"/>
                </a:solidFill>
                <a:latin typeface="Aptos"/>
              </a:defRPr>
            </a:pPr>
            <a:r>
              <a:t>• Classement : score + bruit éventuel, puis départage déterministe</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TripAllocator.cs ; CandidateSelector.cs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Défaut critique : la paire d’agents n’est pas optimisée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Le code choisit d’abord le meilleur chauffeur</a:t>
            </a:r>
          </a:p>
          <a:p>
            <a:pPr>
              <a:spcAft>
                <a:spcPts val="1600"/>
              </a:spcAft>
              <a:defRPr sz="2200" b="0">
                <a:solidFill>
                  <a:srgbClr val="142B45"/>
                </a:solidFill>
                <a:latin typeface="Aptos"/>
              </a:defRPr>
            </a:pPr>
            <a:r>
              <a:t>• Puis il retient le premier receveur différent de ce chauffeur</a:t>
            </a:r>
          </a:p>
          <a:p>
            <a:pPr>
              <a:spcAft>
                <a:spcPts val="1600"/>
              </a:spcAft>
              <a:defRPr sz="2200" b="0">
                <a:solidFill>
                  <a:srgbClr val="142B45"/>
                </a:solidFill>
                <a:latin typeface="Aptos"/>
              </a:defRPr>
            </a:pPr>
            <a:r>
              <a:t>• Contre-exemple : A polyvalent classé premier ; B chauffeur seulement</a:t>
            </a:r>
          </a:p>
          <a:p>
            <a:pPr>
              <a:spcAft>
                <a:spcPts val="1600"/>
              </a:spcAft>
              <a:defRPr sz="2200" b="0">
                <a:solidFill>
                  <a:srgbClr val="142B45"/>
                </a:solidFill>
                <a:latin typeface="Aptos"/>
              </a:defRPr>
            </a:pPr>
            <a:r>
              <a:t>• Le code choisit A chauffeur et ne trouve plus de receveur</a:t>
            </a:r>
          </a:p>
          <a:p>
            <a:pPr>
              <a:spcAft>
                <a:spcPts val="1600"/>
              </a:spcAft>
              <a:defRPr sz="2200" b="0">
                <a:solidFill>
                  <a:srgbClr val="142B45"/>
                </a:solidFill>
                <a:latin typeface="Aptos"/>
              </a:defRPr>
            </a:pPr>
            <a:r>
              <a:t>• La paire B chauffeur / A receveur est pourtant réalisable</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TripAllocator.TryAssign ; exemple analytique</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Fonction objectif effectivement codée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Minimiser F = P × U + D + λa × σa + λb × σb</a:t>
            </a:r>
          </a:p>
          <a:p>
            <a:pPr>
              <a:spcAft>
                <a:spcPts val="1600"/>
              </a:spcAft>
              <a:defRPr sz="2200" b="0">
                <a:solidFill>
                  <a:srgbClr val="142B45"/>
                </a:solidFill>
                <a:latin typeface="Aptos"/>
              </a:defRPr>
            </a:pPr>
            <a:r>
              <a:t>• U : voyages non affectés ; D : déficit de score souple</a:t>
            </a:r>
          </a:p>
          <a:p>
            <a:pPr>
              <a:spcAft>
                <a:spcPts val="1600"/>
              </a:spcAft>
              <a:defRPr sz="2200" b="0">
                <a:solidFill>
                  <a:srgbClr val="142B45"/>
                </a:solidFill>
                <a:latin typeface="Aptos"/>
              </a:defRPr>
            </a:pPr>
            <a:r>
              <a:t>• σa et σb : écarts-types des heures agents et bus</a:t>
            </a:r>
          </a:p>
          <a:p>
            <a:pPr>
              <a:spcAft>
                <a:spcPts val="1600"/>
              </a:spcAft>
              <a:defRPr sz="2200" b="0">
                <a:solidFill>
                  <a:srgbClr val="142B45"/>
                </a:solidFill>
                <a:latin typeface="Aptos"/>
              </a:defRPr>
            </a:pPr>
            <a:r>
              <a:t>• Valeurs du code : P = 100 000 ; λa = λb = 10</a:t>
            </a:r>
          </a:p>
          <a:p>
            <a:pPr>
              <a:spcAft>
                <a:spcPts val="1600"/>
              </a:spcAft>
              <a:defRPr sz="2200" b="0">
                <a:solidFill>
                  <a:srgbClr val="142B45"/>
                </a:solidFill>
                <a:latin typeface="Aptos"/>
              </a:defRPr>
            </a:pPr>
            <a:r>
              <a:t>• Les heures d’équité couvrent tout le ScheduleBook chargé</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ObjectiveFunction.cs ; AllocationPolicy.cs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L’objectif n’est pas une hiérarchie garantie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Le validateur vérifie P &gt; 0, pas sa dominance sur les autres termes</a:t>
            </a:r>
          </a:p>
          <a:p>
            <a:pPr>
              <a:spcAft>
                <a:spcPts val="1600"/>
              </a:spcAft>
              <a:defRPr sz="2200" b="0">
                <a:solidFill>
                  <a:srgbClr val="142B45"/>
                </a:solidFill>
                <a:latin typeface="Aptos"/>
              </a:defRPr>
            </a:pPr>
            <a:r>
              <a:t>• Des poids configurables peuvent renverser la priorité de couverture</a:t>
            </a:r>
          </a:p>
          <a:p>
            <a:pPr>
              <a:spcAft>
                <a:spcPts val="1600"/>
              </a:spcAft>
              <a:defRPr sz="2200" b="0">
                <a:solidFill>
                  <a:srgbClr val="142B45"/>
                </a:solidFill>
                <a:latin typeface="Aptos"/>
              </a:defRPr>
            </a:pPr>
            <a:r>
              <a:t>• Les scores mémorisés proviennent des contextes d’insertion</a:t>
            </a:r>
          </a:p>
          <a:p>
            <a:pPr>
              <a:spcAft>
                <a:spcPts val="1600"/>
              </a:spcAft>
              <a:defRPr sz="2200" b="0">
                <a:solidFill>
                  <a:srgbClr val="142B45"/>
                </a:solidFill>
                <a:latin typeface="Aptos"/>
              </a:defRPr>
            </a:pPr>
            <a:r>
              <a:t>• Le même plan peut recevoir des valeurs différentes selon son historique</a:t>
            </a:r>
          </a:p>
          <a:p>
            <a:pPr>
              <a:spcAft>
                <a:spcPts val="1600"/>
              </a:spcAft>
              <a:defRPr sz="2200" b="0">
                <a:solidFill>
                  <a:srgbClr val="142B45"/>
                </a:solidFill>
                <a:latin typeface="Aptos"/>
              </a:defRPr>
            </a:pPr>
            <a:r>
              <a:t>• Proposition : comparaison lexicographique et réévaluation cohérente</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ObjectiveFunction.cs ; PolicyValidator.cs ; PlanEvaluator.cs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ALNS : explorer de grands voisinages</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Copier le plan courant</a:t>
            </a:r>
          </a:p>
          <a:p>
            <a:pPr>
              <a:spcAft>
                <a:spcPts val="1600"/>
              </a:spcAft>
              <a:defRPr sz="2200" b="0">
                <a:solidFill>
                  <a:srgbClr val="142B45"/>
                </a:solidFill>
                <a:latin typeface="Aptos"/>
              </a:defRPr>
            </a:pPr>
            <a:r>
              <a:t>• Choisir une destruction et une réparation selon leurs poids</a:t>
            </a:r>
          </a:p>
          <a:p>
            <a:pPr>
              <a:spcAft>
                <a:spcPts val="1600"/>
              </a:spcAft>
              <a:defRPr sz="2200" b="0">
                <a:solidFill>
                  <a:srgbClr val="142B45"/>
                </a:solidFill>
                <a:latin typeface="Aptos"/>
              </a:defRPr>
            </a:pPr>
            <a:r>
              <a:t>• Retirer une fraction des affectations puis réinsérer les voyages en attente</a:t>
            </a:r>
          </a:p>
          <a:p>
            <a:pPr>
              <a:spcAft>
                <a:spcPts val="1600"/>
              </a:spcAft>
              <a:defRPr sz="2200" b="0">
                <a:solidFill>
                  <a:srgbClr val="142B45"/>
                </a:solidFill>
                <a:latin typeface="Aptos"/>
              </a:defRPr>
            </a:pPr>
            <a:r>
              <a:t>• Accepter ou rejeter le candidat ; conserver séparément le meilleur</a:t>
            </a:r>
          </a:p>
          <a:p>
            <a:pPr>
              <a:spcAft>
                <a:spcPts val="1600"/>
              </a:spcAft>
              <a:defRPr sz="2200" b="0">
                <a:solidFill>
                  <a:srgbClr val="142B45"/>
                </a:solidFill>
                <a:latin typeface="Aptos"/>
              </a:defRPr>
            </a:pPr>
            <a:r>
              <a:t>• Arrêter sur itérations, durée, stagnation ou annulation</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AlnsImprover.cs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Quatre destructions, trois réparations</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Destructions : aléatoire ; pires scores ; voisinage temporel ; ressource</a:t>
            </a:r>
          </a:p>
          <a:p>
            <a:pPr>
              <a:spcAft>
                <a:spcPts val="1600"/>
              </a:spcAft>
              <a:defRPr sz="2200" b="0">
                <a:solidFill>
                  <a:srgbClr val="142B45"/>
                </a:solidFill>
                <a:latin typeface="Aptos"/>
              </a:defRPr>
            </a:pPr>
            <a:r>
              <a:t>• Le pivot temporel cible un voyage non affecté avec probabilité 0,7 lorsqu’il en existe</a:t>
            </a:r>
          </a:p>
          <a:p>
            <a:pPr>
              <a:spcAft>
                <a:spcPts val="1600"/>
              </a:spcAft>
              <a:defRPr sz="2200" b="0">
                <a:solidFill>
                  <a:srgbClr val="142B45"/>
                </a:solidFill>
                <a:latin typeface="Aptos"/>
              </a:defRPr>
            </a:pPr>
            <a:r>
              <a:t>• Réparations : chronologique ; plus contraint ; ordre aléatoire</a:t>
            </a:r>
          </a:p>
          <a:p>
            <a:pPr>
              <a:spcAft>
                <a:spcPts val="1600"/>
              </a:spcAft>
              <a:defRPr sz="2200" b="0">
                <a:solidFill>
                  <a:srgbClr val="142B45"/>
                </a:solidFill>
                <a:latin typeface="Aptos"/>
              </a:defRPr>
            </a:pPr>
            <a:r>
              <a:t>• Les deux dernières peuvent bruiter le classement des ressources</a:t>
            </a:r>
          </a:p>
          <a:p>
            <a:pPr>
              <a:spcAft>
                <a:spcPts val="1600"/>
              </a:spcAft>
              <a:defRPr sz="2200" b="0">
                <a:solidFill>
                  <a:srgbClr val="142B45"/>
                </a:solidFill>
                <a:latin typeface="Aptos"/>
              </a:defRPr>
            </a:pPr>
            <a:r>
              <a:t>• Le retrait par ressource distingue le poste chauffeur du poste receveur</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Operators.cs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Recuit simulé et adaptation des opérateurs</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Si Δ = F(candidat) − F(courant) &gt; 0 : acceptation exp(−Δ / T)</a:t>
            </a:r>
          </a:p>
          <a:p>
            <a:pPr>
              <a:spcAft>
                <a:spcPts val="1600"/>
              </a:spcAft>
              <a:defRPr sz="2200" b="0">
                <a:solidFill>
                  <a:srgbClr val="142B45"/>
                </a:solidFill>
                <a:latin typeface="Aptos"/>
              </a:defRPr>
            </a:pPr>
            <a:r>
              <a:t>• Refroidissement géométrique : T ← 0,998 × T par défaut</a:t>
            </a:r>
          </a:p>
          <a:p>
            <a:pPr>
              <a:spcAft>
                <a:spcPts val="1600"/>
              </a:spcAft>
              <a:defRPr sz="2200" b="0">
                <a:solidFill>
                  <a:srgbClr val="142B45"/>
                </a:solidFill>
                <a:latin typeface="Aptos"/>
              </a:defRPr>
            </a:pPr>
            <a:r>
              <a:t>• Récompenses : nouveau meilleur 33 ; amélioration 9 ; accepté 3</a:t>
            </a:r>
          </a:p>
          <a:p>
            <a:pPr>
              <a:spcAft>
                <a:spcPts val="1600"/>
              </a:spcAft>
              <a:defRPr sz="2200" b="0">
                <a:solidFill>
                  <a:srgbClr val="142B45"/>
                </a:solidFill>
                <a:latin typeface="Aptos"/>
              </a:defRPr>
            </a:pPr>
            <a:r>
              <a:t>• Poids ← max(0,1 ; (1−ρ) × poids + ρ × récompense)</a:t>
            </a:r>
          </a:p>
          <a:p>
            <a:pPr>
              <a:spcAft>
                <a:spcPts val="1600"/>
              </a:spcAft>
              <a:defRPr sz="2200" b="0">
                <a:solidFill>
                  <a:srgbClr val="142B45"/>
                </a:solidFill>
                <a:latin typeface="Aptos"/>
              </a:defRPr>
            </a:pPr>
            <a:r>
              <a:t>• Destruction et réparation reçoivent la même récompense</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AlnsImprover.cs ; AllocationPolicy.cs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Réglages : ce qu’ils signifient réellement</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3 000 itérations ; 20 secondes ALNS ; stagnation 1 500</a:t>
            </a:r>
          </a:p>
          <a:p>
            <a:pPr>
              <a:spcAft>
                <a:spcPts val="1600"/>
              </a:spcAft>
              <a:defRPr sz="2200" b="0">
                <a:solidFill>
                  <a:srgbClr val="142B45"/>
                </a:solidFill>
                <a:latin typeface="Aptos"/>
              </a:defRPr>
            </a:pPr>
            <a:r>
              <a:t>• Destruction 5–15 %, mais au moins deux affectations si possible</a:t>
            </a:r>
          </a:p>
          <a:p>
            <a:pPr>
              <a:spcAft>
                <a:spcPts val="1600"/>
              </a:spcAft>
              <a:defRPr sz="2200" b="0">
                <a:solidFill>
                  <a:srgbClr val="142B45"/>
                </a:solidFill>
                <a:latin typeface="Aptos"/>
              </a:defRPr>
            </a:pPr>
            <a:r>
              <a:t>• Température initiale 100 ; bruit 10 % ; graine 42</a:t>
            </a:r>
          </a:p>
          <a:p>
            <a:pPr>
              <a:spcAft>
                <a:spcPts val="1600"/>
              </a:spcAft>
              <a:defRPr sz="2200" b="0">
                <a:solidFill>
                  <a:srgbClr val="142B45"/>
                </a:solidFill>
                <a:latin typeface="Aptos"/>
              </a:defRPr>
            </a:pPr>
            <a:r>
              <a:t>• P = 100 000 rend très improbable la perte temporaire d’un voyage à T = 100</a:t>
            </a:r>
          </a:p>
          <a:p>
            <a:pPr>
              <a:spcAft>
                <a:spcPts val="1600"/>
              </a:spcAft>
              <a:defRPr sz="2200" b="0">
                <a:solidFill>
                  <a:srgbClr val="142B45"/>
                </a:solidFill>
                <a:latin typeface="Aptos"/>
              </a:defRPr>
            </a:pPr>
            <a:r>
              <a:t>• La graine seule ne garantit pas le même résultat si l’arrêt temporel intervient</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AllocationPolicy.cs ; AlnsImprover.cs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Complétion et validation : garanties limitées mais utiles</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La complétion retente les voyages restants sans déplacer les affectés</a:t>
            </a:r>
          </a:p>
          <a:p>
            <a:pPr>
              <a:spcAft>
                <a:spcPts val="1600"/>
              </a:spcAft>
              <a:defRPr sz="2200" b="0">
                <a:solidFill>
                  <a:srgbClr val="142B45"/>
                </a:solidFill>
                <a:latin typeface="Aptos"/>
              </a:defRPr>
            </a:pPr>
            <a:r>
              <a:t>• Le contrôle retire temporairement un voyage puis rejoue ses règles dures</a:t>
            </a:r>
          </a:p>
          <a:p>
            <a:pPr>
              <a:spcAft>
                <a:spcPts val="1600"/>
              </a:spcAft>
              <a:defRPr sz="2200" b="0">
                <a:solidFill>
                  <a:srgbClr val="142B45"/>
                </a:solidFill>
                <a:latin typeface="Aptos"/>
              </a:defRPr>
            </a:pPr>
            <a:r>
              <a:t>• Il vérifie aussi les qualifications et la distinction des agents</a:t>
            </a:r>
          </a:p>
          <a:p>
            <a:pPr>
              <a:spcAft>
                <a:spcPts val="1600"/>
              </a:spcAft>
              <a:defRPr sz="2200" b="0">
                <a:solidFill>
                  <a:srgbClr val="142B45"/>
                </a:solidFill>
                <a:latin typeface="Aptos"/>
              </a:defRPr>
            </a:pPr>
            <a:r>
              <a:t>• Il réutilise les mêmes implémentations de règles que la construction</a:t>
            </a:r>
          </a:p>
          <a:p>
            <a:pPr>
              <a:spcAft>
                <a:spcPts val="1600"/>
              </a:spcAft>
              <a:defRPr sz="2200" b="0">
                <a:solidFill>
                  <a:srgbClr val="142B45"/>
                </a:solidFill>
                <a:latin typeface="Aptos"/>
              </a:defRPr>
            </a:pPr>
            <a:r>
              <a:t>• Dans AllocateDay, les affectations verrouillées ne sont pas toutes auditées isolément</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PlanCompleter.cs ; PlanValidator.cs ; AllocateDay.cs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Persistance et exploitation</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Simulation sans écriture ; compléter ou remplacer le plan</a:t>
            </a:r>
          </a:p>
          <a:p>
            <a:pPr>
              <a:spcAft>
                <a:spcPts val="1600"/>
              </a:spcAft>
              <a:defRPr sz="2200" b="0">
                <a:solidFill>
                  <a:srgbClr val="142B45"/>
                </a:solidFill>
                <a:latin typeface="Aptos"/>
              </a:defRPr>
            </a:pPr>
            <a:r>
              <a:t>• Écriture transactionnelle des seules colonnes prévues *_PR</a:t>
            </a:r>
          </a:p>
          <a:p>
            <a:pPr>
              <a:spcAft>
                <a:spcPts val="1600"/>
              </a:spcAft>
              <a:defRPr sz="2200" b="0">
                <a:solidFill>
                  <a:srgbClr val="142B45"/>
                </a:solidFill>
                <a:latin typeface="Aptos"/>
              </a:defRPr>
            </a:pPr>
            <a:r>
              <a:t>• Protection des voyages aux trois ressources réelles renseignées</a:t>
            </a:r>
          </a:p>
          <a:p>
            <a:pPr>
              <a:spcAft>
                <a:spcPts val="1600"/>
              </a:spcAft>
              <a:defRPr sz="2200" b="0">
                <a:solidFill>
                  <a:srgbClr val="142B45"/>
                </a:solidFill>
                <a:latin typeface="Aptos"/>
              </a:defRPr>
            </a:pPr>
            <a:r>
              <a:t>• Refus si violations ou journée incomplète dans le mode prévu</a:t>
            </a:r>
          </a:p>
          <a:p>
            <a:pPr>
              <a:spcAft>
                <a:spcPts val="1600"/>
              </a:spcAft>
              <a:defRPr sz="2200" b="0">
                <a:solidFill>
                  <a:srgbClr val="142B45"/>
                </a:solidFill>
                <a:latin typeface="Aptos"/>
              </a:defRPr>
            </a:pPr>
            <a:r>
              <a:t>• Atomicité d’écriture ≠ protection contre un calcul devenu obsolète</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AllocateDay.cs ; MySqlAssignmentRepository.cs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Limites métier et qualité des données</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Continuité de station : préférence souple, pas contrainte de trajet à vide</a:t>
            </a:r>
          </a:p>
          <a:p>
            <a:pPr>
              <a:spcAft>
                <a:spcPts val="1600"/>
              </a:spcAft>
              <a:defRPr sz="2200" b="0">
                <a:solidFill>
                  <a:srgbClr val="142B45"/>
                </a:solidFill>
                <a:latin typeface="Aptos"/>
              </a:defRPr>
            </a:pPr>
            <a:r>
              <a:t>• Pas de matrice explicite des temps de transfert dans les règles inspectées</a:t>
            </a:r>
          </a:p>
          <a:p>
            <a:pPr>
              <a:spcAft>
                <a:spcPts val="1600"/>
              </a:spcAft>
              <a:defRPr sz="2200" b="0">
                <a:solidFill>
                  <a:srgbClr val="142B45"/>
                </a:solidFill>
                <a:latin typeface="Aptos"/>
              </a:defRPr>
            </a:pPr>
            <a:r>
              <a:t>• Capacité contrôlée seulement si ExpectedPassengers est connu</a:t>
            </a:r>
          </a:p>
          <a:p>
            <a:pPr>
              <a:spcAft>
                <a:spcPts val="1600"/>
              </a:spcAft>
              <a:defRPr sz="2200" b="0">
                <a:solidFill>
                  <a:srgbClr val="142B45"/>
                </a:solidFill>
                <a:latin typeface="Aptos"/>
              </a:defRPr>
            </a:pPr>
            <a:r>
              <a:t>• Durées futures parfois estimées depuis l’itinéraire de ligne</a:t>
            </a:r>
          </a:p>
          <a:p>
            <a:pPr>
              <a:spcAft>
                <a:spcPts val="1600"/>
              </a:spcAft>
              <a:defRPr sz="2200" b="0">
                <a:solidFill>
                  <a:srgbClr val="142B45"/>
                </a:solidFill>
                <a:latin typeface="Aptos"/>
              </a:defRPr>
            </a:pPr>
            <a:r>
              <a:t>• Polyvalence par défaut et activation automatique des bus à valider</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SoftRules.cs ; BusRules.cs ; README.md</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Forces et faiblesses de l’architecture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Forces : domaine autonome, ports explicites, règles extensibles, mode démo</a:t>
            </a:r>
          </a:p>
          <a:p>
            <a:pPr>
              <a:spcAft>
                <a:spcPts val="1600"/>
              </a:spcAft>
              <a:defRPr sz="2200" b="0">
                <a:solidFill>
                  <a:srgbClr val="142B45"/>
                </a:solidFill>
                <a:latin typeface="Aptos"/>
              </a:defRPr>
            </a:pPr>
            <a:r>
              <a:t>• Forces : calcul en mémoire, explications, progression et sauvegarde séparée</a:t>
            </a:r>
          </a:p>
          <a:p>
            <a:pPr>
              <a:spcAft>
                <a:spcPts val="1600"/>
              </a:spcAft>
              <a:defRPr sz="2200" b="0">
                <a:solidFill>
                  <a:srgbClr val="142B45"/>
                </a:solidFill>
                <a:latin typeface="Aptos"/>
              </a:defRPr>
            </a:pPr>
            <a:r>
              <a:t>• Faiblesses : listes parcourues souvent, clones répétés et tris à chaque ajout</a:t>
            </a:r>
          </a:p>
          <a:p>
            <a:pPr>
              <a:spcAft>
                <a:spcPts val="1600"/>
              </a:spcAft>
              <a:defRPr sz="2200" b="0">
                <a:solidFill>
                  <a:srgbClr val="142B45"/>
                </a:solidFill>
                <a:latin typeface="Aptos"/>
              </a:defRPr>
            </a:pPr>
            <a:r>
              <a:t>• Risques : paramètres JSON et calculs concurrents à gouverner</a:t>
            </a:r>
          </a:p>
          <a:p>
            <a:pPr>
              <a:spcAft>
                <a:spcPts val="1600"/>
              </a:spcAft>
              <a:defRPr sz="2200" b="0">
                <a:solidFill>
                  <a:srgbClr val="142B45"/>
                </a:solidFill>
                <a:latin typeface="Aptos"/>
              </a:defRPr>
            </a:pPr>
            <a:r>
              <a:t>• Program.cs ne montre pas de configuration explicite authentification / autorisation</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ResourceSchedule.cs ; Program.cs ; Ports.cs ; AllocateDay.cs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Performance et niveau de preuve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Aucun benchmark exécuté dans cet audit</a:t>
            </a:r>
          </a:p>
          <a:p>
            <a:pPr>
              <a:spcAft>
                <a:spcPts val="1600"/>
              </a:spcAft>
              <a:defRPr sz="2200" b="0">
                <a:solidFill>
                  <a:srgbClr val="142B45"/>
                </a:solidFill>
                <a:latin typeface="Aptos"/>
              </a:defRPr>
            </a:pPr>
            <a:r>
              <a:t>• README : 34/36 glouton ; 35/36 phases ; 36/36 ALNS ; zéro violation annoncé</a:t>
            </a:r>
          </a:p>
          <a:p>
            <a:pPr>
              <a:spcAft>
                <a:spcPts val="1600"/>
              </a:spcAft>
              <a:defRPr sz="2200" b="0">
                <a:solidFill>
                  <a:srgbClr val="142B45"/>
                </a:solidFill>
                <a:latin typeface="Aptos"/>
              </a:defRPr>
            </a:pPr>
            <a:r>
              <a:t>• README : 58 tests annoncés avec lanceur de remplacement</a:t>
            </a:r>
          </a:p>
          <a:p>
            <a:pPr>
              <a:spcAft>
                <a:spcPts val="1600"/>
              </a:spcAft>
              <a:defRPr sz="2200" b="0">
                <a:solidFill>
                  <a:srgbClr val="142B45"/>
                </a:solidFill>
                <a:latin typeface="Aptos"/>
              </a:defRPr>
            </a:pPr>
            <a:r>
              <a:t>• Dapper / MySqlConnector réels et interactions navigateur non validés selon le README</a:t>
            </a:r>
          </a:p>
          <a:p>
            <a:pPr>
              <a:spcAft>
                <a:spcPts val="1600"/>
              </a:spcAft>
              <a:defRPr sz="2200" b="0">
                <a:solidFill>
                  <a:srgbClr val="142B45"/>
                </a:solidFill>
                <a:latin typeface="Aptos"/>
              </a:defRPr>
            </a:pPr>
            <a:r>
              <a:t>• Un cas de démonstration ne prouve ni supériorité générale ni passage à l’échelle</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README.md ; ResourceSchedule.cs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Protocole scientifique recommandé</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Même jeu de données, politique, verrouillages et budget pour chaque méthode</a:t>
            </a:r>
          </a:p>
          <a:p>
            <a:pPr>
              <a:spcAft>
                <a:spcPts val="1600"/>
              </a:spcAft>
              <a:defRPr sz="2200" b="0">
                <a:solidFill>
                  <a:srgbClr val="142B45"/>
                </a:solidFill>
                <a:latin typeface="Aptos"/>
              </a:defRPr>
            </a:pPr>
            <a:r>
              <a:t>• Petites instances : modèle exact de référence et borne de qualité</a:t>
            </a:r>
          </a:p>
          <a:p>
            <a:pPr>
              <a:spcAft>
                <a:spcPts val="1600"/>
              </a:spcAft>
              <a:defRPr sz="2200" b="0">
                <a:solidFill>
                  <a:srgbClr val="142B45"/>
                </a:solidFill>
                <a:latin typeface="Aptos"/>
              </a:defRPr>
            </a:pPr>
            <a:r>
              <a:t>• Instances réalistes : journées ordinaires, pics, pénuries, absences, passages de minuit</a:t>
            </a:r>
          </a:p>
          <a:p>
            <a:pPr>
              <a:spcAft>
                <a:spcPts val="1600"/>
              </a:spcAft>
              <a:defRPr sz="2200" b="0">
                <a:solidFill>
                  <a:srgbClr val="142B45"/>
                </a:solidFill>
                <a:latin typeface="Aptos"/>
              </a:defRPr>
            </a:pPr>
            <a:r>
              <a:t>• Plusieurs graines ; médiane, dispersion, pire cas et temps de calcul</a:t>
            </a:r>
          </a:p>
          <a:p>
            <a:pPr>
              <a:spcAft>
                <a:spcPts val="1600"/>
              </a:spcAft>
              <a:defRPr sz="2200" b="0">
                <a:solidFill>
                  <a:srgbClr val="142B45"/>
                </a:solidFill>
                <a:latin typeface="Aptos"/>
              </a:defRPr>
            </a:pPr>
            <a:r>
              <a:t>• Mesurer couverture, violations, qualité exacte, équité et robustesse aux perturbations</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Recommandations issues des limites observées</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Feuille de route priorisée</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P0 : corriger la sélection de paire et aligner le diagnostic sur les règles actives</a:t>
            </a:r>
          </a:p>
          <a:p>
            <a:pPr>
              <a:spcAft>
                <a:spcPts val="1600"/>
              </a:spcAft>
              <a:defRPr sz="2200" b="0">
                <a:solidFill>
                  <a:srgbClr val="142B45"/>
                </a:solidFill>
                <a:latin typeface="Aptos"/>
              </a:defRPr>
            </a:pPr>
            <a:r>
              <a:t>• P0 : rendre la priorité de couverture explicite ; aligner score recherché et score publié</a:t>
            </a:r>
          </a:p>
          <a:p>
            <a:pPr>
              <a:spcAft>
                <a:spcPts val="1600"/>
              </a:spcAft>
              <a:defRPr sz="2200" b="0">
                <a:solidFill>
                  <a:srgbClr val="142B45"/>
                </a:solidFill>
                <a:latin typeface="Aptos"/>
              </a:defRPr>
            </a:pPr>
            <a:r>
              <a:t>• P0 : tester les vraies dépendances et sécuriser les écritures concurrentes</a:t>
            </a:r>
          </a:p>
          <a:p>
            <a:pPr>
              <a:spcAft>
                <a:spcPts val="1600"/>
              </a:spcAft>
              <a:defRPr sz="2200" b="0">
                <a:solidFill>
                  <a:srgbClr val="142B45"/>
                </a:solidFill>
                <a:latin typeface="Aptos"/>
              </a:defRPr>
            </a:pPr>
            <a:r>
              <a:t>• P1 : temps de transfert, qualifications, contrôle des verrouillés, équité adaptée aux disponibilités</a:t>
            </a:r>
          </a:p>
          <a:p>
            <a:pPr>
              <a:spcAft>
                <a:spcPts val="1600"/>
              </a:spcAft>
              <a:defRPr sz="2200" b="0">
                <a:solidFill>
                  <a:srgbClr val="142B45"/>
                </a:solidFill>
                <a:latin typeface="Aptos"/>
              </a:defRPr>
            </a:pPr>
            <a:r>
              <a:t>• P2 : regret-k, échanges ciblés, profilage, calcul incrémental, référence exacte</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Synthèse de l’audit statique</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TextBox 1"/>
          <p:cNvSpPr txBox="1"/>
          <p:nvPr/>
        </p:nvSpPr>
        <p:spPr>
          <a:xfrm>
            <a:off x="502920" y="228600"/>
            <a:ext cx="11155680" cy="320040"/>
          </a:xfrm>
          <a:prstGeom prst="rect">
            <a:avLst/>
          </a:prstGeom>
          <a:noFill/>
        </p:spPr>
        <p:txBody>
          <a:bodyPr wrap="square">
            <a:spAutoFit/>
          </a:bodyPr>
          <a:lstStyle/>
          <a:p>
            <a:pPr>
              <a:spcAft>
                <a:spcPts val="1600"/>
              </a:spcAft>
              <a:defRPr sz="1100" b="1">
                <a:solidFill>
                  <a:srgbClr val="00A89C"/>
                </a:solidFill>
                <a:latin typeface="Aptos"/>
              </a:defRPr>
            </a:pPr>
            <a:r>
              <a:t>SMARTPLANIF  /  RECHERCHE OPÉRATIONNELLE  /  AUDIT STATIQUE</a:t>
            </a:r>
          </a:p>
        </p:txBody>
      </p:sp>
      <p:sp>
        <p:nvSpPr>
          <p:cNvPr id="3" name="TextBox 2"/>
          <p:cNvSpPr txBox="1"/>
          <p:nvPr/>
        </p:nvSpPr>
        <p:spPr>
          <a:xfrm>
            <a:off x="502920" y="822960"/>
            <a:ext cx="11155680" cy="960120"/>
          </a:xfrm>
          <a:prstGeom prst="rect">
            <a:avLst/>
          </a:prstGeom>
          <a:noFill/>
        </p:spPr>
        <p:txBody>
          <a:bodyPr wrap="square">
            <a:spAutoFit/>
          </a:bodyPr>
          <a:lstStyle/>
          <a:p>
            <a:pPr>
              <a:spcAft>
                <a:spcPts val="1600"/>
              </a:spcAft>
              <a:defRPr sz="2900" b="1">
                <a:solidFill>
                  <a:srgbClr val="142B45"/>
                </a:solidFill>
                <a:latin typeface="Aptos"/>
              </a:defRPr>
            </a:pPr>
            <a:r>
              <a:t>Conclusion et traçabilité</a:t>
            </a:r>
          </a:p>
        </p:txBody>
      </p:sp>
      <p:sp>
        <p:nvSpPr>
          <p:cNvPr id="4" name="TextBox 3"/>
          <p:cNvSpPr txBox="1"/>
          <p:nvPr/>
        </p:nvSpPr>
        <p:spPr>
          <a:xfrm>
            <a:off x="594360" y="1874519"/>
            <a:ext cx="10972800" cy="4023360"/>
          </a:xfrm>
          <a:prstGeom prst="rect">
            <a:avLst/>
          </a:prstGeom>
          <a:noFill/>
        </p:spPr>
        <p:txBody>
          <a:bodyPr wrap="square">
            <a:spAutoFit/>
          </a:bodyPr>
          <a:lstStyle/>
          <a:p>
            <a:pPr>
              <a:spcAft>
                <a:spcPts val="1600"/>
              </a:spcAft>
              <a:defRPr sz="2200" b="0">
                <a:solidFill>
                  <a:srgbClr val="142B45"/>
                </a:solidFill>
                <a:latin typeface="Aptos"/>
              </a:defRPr>
            </a:pPr>
            <a:r>
              <a:t>• Bon socle modulaire pour une aide à la décision explicable</a:t>
            </a:r>
          </a:p>
          <a:p>
            <a:pPr>
              <a:spcAft>
                <a:spcPts val="1600"/>
              </a:spcAft>
              <a:defRPr sz="2200" b="0">
                <a:solidFill>
                  <a:srgbClr val="142B45"/>
                </a:solidFill>
                <a:latin typeface="Aptos"/>
              </a:defRPr>
            </a:pPr>
            <a:r>
              <a:t>• ALNS apporte une capacité de remise en cause des choix gloutons</a:t>
            </a:r>
          </a:p>
          <a:p>
            <a:pPr>
              <a:spcAft>
                <a:spcPts val="1600"/>
              </a:spcAft>
              <a:defRPr sz="2200" b="0">
                <a:solidFill>
                  <a:srgbClr val="142B45"/>
                </a:solidFill>
                <a:latin typeface="Aptos"/>
              </a:defRPr>
            </a:pPr>
            <a:r>
              <a:t>• Le code ne fournit pas de certificat d’optimalité</a:t>
            </a:r>
          </a:p>
          <a:p>
            <a:pPr>
              <a:spcAft>
                <a:spcPts val="1600"/>
              </a:spcAft>
              <a:defRPr sz="2200" b="0">
                <a:solidFill>
                  <a:srgbClr val="142B45"/>
                </a:solidFill>
                <a:latin typeface="Aptos"/>
              </a:defRPr>
            </a:pPr>
            <a:r>
              <a:t>• La priorité est la cohérence du modèle avant l’ajout de métaheuristiques</a:t>
            </a:r>
          </a:p>
          <a:p>
            <a:pPr>
              <a:spcAft>
                <a:spcPts val="1600"/>
              </a:spcAft>
              <a:defRPr sz="2200" b="0">
                <a:solidFill>
                  <a:srgbClr val="142B45"/>
                </a:solidFill>
                <a:latin typeface="Aptos"/>
              </a:defRPr>
            </a:pPr>
            <a:r>
              <a:t>• Source unique : archive texte du dépôt SmartPlanif fournie par l’utilisateur</a:t>
            </a:r>
          </a:p>
        </p:txBody>
      </p:sp>
      <p:sp>
        <p:nvSpPr>
          <p:cNvPr id="5" name="TextBox 4"/>
          <p:cNvSpPr txBox="1"/>
          <p:nvPr/>
        </p:nvSpPr>
        <p:spPr>
          <a:xfrm>
            <a:off x="502920" y="6263640"/>
            <a:ext cx="10607040" cy="411480"/>
          </a:xfrm>
          <a:prstGeom prst="rect">
            <a:avLst/>
          </a:prstGeom>
          <a:noFill/>
        </p:spPr>
        <p:txBody>
          <a:bodyPr wrap="square">
            <a:spAutoFit/>
          </a:bodyPr>
          <a:lstStyle/>
          <a:p>
            <a:pPr>
              <a:spcAft>
                <a:spcPts val="1600"/>
              </a:spcAft>
              <a:defRPr sz="1000" b="0">
                <a:solidFill>
                  <a:srgbClr val="536477"/>
                </a:solidFill>
                <a:latin typeface="Aptos"/>
              </a:defRPr>
            </a:pPr>
            <a:r>
              <a:t>Source : Fichier fourni : salah1892-smartplanif-ff9b3838b8c3f414.txt</a:t>
            </a:r>
          </a:p>
        </p:txBody>
      </p:sp>
      <p:sp>
        <p:nvSpPr>
          <p:cNvPr id="6" name="TextBox 5"/>
          <p:cNvSpPr txBox="1"/>
          <p:nvPr/>
        </p:nvSpPr>
        <p:spPr>
          <a:xfrm>
            <a:off x="11064240" y="6263640"/>
            <a:ext cx="640080" cy="365760"/>
          </a:xfrm>
          <a:prstGeom prst="rect">
            <a:avLst/>
          </a:prstGeom>
          <a:noFill/>
        </p:spPr>
        <p:txBody>
          <a:bodyPr wrap="square">
            <a:spAutoFit/>
          </a:bodyPr>
          <a:lstStyle/>
          <a:p>
            <a:pPr>
              <a:spcAft>
                <a:spcPts val="1600"/>
              </a:spcAft>
              <a:defRPr sz="1200" b="1">
                <a:solidFill>
                  <a:srgbClr val="00A89C"/>
                </a:solidFill>
                <a:latin typeface="Aptos"/>
              </a:defRPr>
            </a:pPr>
            <a: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