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5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6544D81-6755-4DAA-9A1D-7E70730555BE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C36FDC-AE87-4523-A696-96CA62DDD1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6A3AE5-6F37-4C91-8630-F694730564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E2C2D7-3C2F-4188-A05C-3B3166646A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5F608A-B717-4407-8BC7-8234D51935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E49E0A-4905-415E-93D0-AFE8F74BE3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31D2E2-7C64-4384-888D-B5FAEC3DEC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603627-86CE-413B-9D82-E0BFBFBB3E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81CBFB-4A54-46FB-BC1F-D8204DD154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814251-D99B-49A2-98E8-401BEA5C8A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A4086D-0A1F-4171-8C5A-70A9EAA1BB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fr-FR" sz="3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1115568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4F67A4C-BFA9-4625-96C4-AE8679E3A932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7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fr-FR" sz="3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1115568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499C213-B8B7-4151-918B-D8DFE0817E16}" type="slidenum">
              <a:rPr lang="en-US" sz="10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&lt;numéro&gt;</a:t>
            </a:fld>
            <a:endParaRPr lang="fr-F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22960" y="2103120"/>
            <a:ext cx="1051524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fr-FR" sz="6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22960" y="3566160"/>
            <a:ext cx="10515240" cy="109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 hasCustomPrompt="1"/>
          </p:nvPr>
        </p:nvSpPr>
        <p:spPr>
          <a:xfrm>
            <a:off x="822960" y="2103120"/>
            <a:ext cx="10515240" cy="127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chemeClr val="accent3"/>
                </a:solidFill>
                <a:effectLst/>
                <a:uFillTx/>
                <a:latin typeface="Cambria"/>
              </a:rPr>
              <a:t>SmartPlanif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hasCustomPrompt="1"/>
          </p:nvPr>
        </p:nvSpPr>
        <p:spPr>
          <a:xfrm>
            <a:off x="822960" y="3566160"/>
            <a:ext cx="10515240" cy="109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Cœur métier de l'allocation : bus, chauffeur et receveur pour chaque voyage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Le flux d'allocation d'une journée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Étape Entrées"/>
          <p:cNvSpPr/>
          <p:nvPr/>
        </p:nvSpPr>
        <p:spPr>
          <a:xfrm>
            <a:off x="1097280" y="1417320"/>
            <a:ext cx="4205880" cy="52992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rgbClr val="5F6B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Entrées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voyages, ressources, politique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Flèche 1"/>
          <p:cNvSpPr/>
          <p:nvPr/>
        </p:nvSpPr>
        <p:spPr>
          <a:xfrm>
            <a:off x="3200400" y="1947600"/>
            <a:ext cx="360" cy="182880"/>
          </a:xfrm>
          <a:prstGeom prst="line">
            <a:avLst/>
          </a:prstGeom>
          <a:ln w="15875">
            <a:solidFill>
              <a:srgbClr val="5F6B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Étape Diagnostic de faisabilité"/>
          <p:cNvSpPr/>
          <p:nvPr/>
        </p:nvSpPr>
        <p:spPr>
          <a:xfrm>
            <a:off x="1097280" y="2130480"/>
            <a:ext cx="4205880" cy="52992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rgbClr val="5F6B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Diagnostic de faisabilité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demande contre ressources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Flèche 2"/>
          <p:cNvSpPr/>
          <p:nvPr/>
        </p:nvSpPr>
        <p:spPr>
          <a:xfrm>
            <a:off x="3200400" y="2660760"/>
            <a:ext cx="360" cy="182880"/>
          </a:xfrm>
          <a:prstGeom prst="line">
            <a:avLst/>
          </a:prstGeom>
          <a:ln w="15875">
            <a:solidFill>
              <a:srgbClr val="5F6B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Étape Construction"/>
          <p:cNvSpPr/>
          <p:nvPr/>
        </p:nvSpPr>
        <p:spPr>
          <a:xfrm>
            <a:off x="1097280" y="2843640"/>
            <a:ext cx="4205880" cy="529920"/>
          </a:xfrm>
          <a:prstGeom prst="roundRect">
            <a:avLst>
              <a:gd name="adj" fmla="val 13793"/>
            </a:avLst>
          </a:prstGeom>
          <a:solidFill>
            <a:schemeClr val="accent5"/>
          </a:solidFill>
          <a:ln w="127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Construction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glouton ou par phases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lèche 3"/>
          <p:cNvSpPr/>
          <p:nvPr/>
        </p:nvSpPr>
        <p:spPr>
          <a:xfrm>
            <a:off x="3200400" y="3373920"/>
            <a:ext cx="360" cy="182880"/>
          </a:xfrm>
          <a:prstGeom prst="line">
            <a:avLst/>
          </a:prstGeom>
          <a:ln w="15875">
            <a:solidFill>
              <a:srgbClr val="5F6B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Étape ALNS + recuit simulé"/>
          <p:cNvSpPr/>
          <p:nvPr/>
        </p:nvSpPr>
        <p:spPr>
          <a:xfrm>
            <a:off x="1097280" y="3557160"/>
            <a:ext cx="4205880" cy="529920"/>
          </a:xfrm>
          <a:prstGeom prst="roundRect">
            <a:avLst>
              <a:gd name="adj" fmla="val 13793"/>
            </a:avLst>
          </a:prstGeom>
          <a:solidFill>
            <a:schemeClr val="accent6"/>
          </a:solidFill>
          <a:ln w="12700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ALNS + recuit simulé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détruire, réparer, accepter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lèche 4"/>
          <p:cNvSpPr/>
          <p:nvPr/>
        </p:nvSpPr>
        <p:spPr>
          <a:xfrm>
            <a:off x="3200400" y="4087080"/>
            <a:ext cx="360" cy="182880"/>
          </a:xfrm>
          <a:prstGeom prst="line">
            <a:avLst/>
          </a:prstGeom>
          <a:ln w="15875">
            <a:solidFill>
              <a:srgbClr val="5F6B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Étape Complétion"/>
          <p:cNvSpPr/>
          <p:nvPr/>
        </p:nvSpPr>
        <p:spPr>
          <a:xfrm>
            <a:off x="1097280" y="4270320"/>
            <a:ext cx="4205880" cy="529920"/>
          </a:xfrm>
          <a:prstGeom prst="roundRect">
            <a:avLst>
              <a:gd name="adj" fmla="val 13793"/>
            </a:avLst>
          </a:prstGeom>
          <a:solidFill>
            <a:schemeClr val="accent5"/>
          </a:solidFill>
          <a:ln w="127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Complétion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derniers voyages, déterministe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lèche 5"/>
          <p:cNvSpPr/>
          <p:nvPr/>
        </p:nvSpPr>
        <p:spPr>
          <a:xfrm>
            <a:off x="3200400" y="4800600"/>
            <a:ext cx="360" cy="182880"/>
          </a:xfrm>
          <a:prstGeom prst="line">
            <a:avLst/>
          </a:prstGeom>
          <a:ln w="15875">
            <a:solidFill>
              <a:srgbClr val="5F6B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Étape Contrôle indépendant"/>
          <p:cNvSpPr/>
          <p:nvPr/>
        </p:nvSpPr>
        <p:spPr>
          <a:xfrm>
            <a:off x="1097280" y="4983480"/>
            <a:ext cx="4205880" cy="52992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rgbClr val="5F6B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Contrôle indépendant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règles dures rejouées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lèche 6"/>
          <p:cNvSpPr/>
          <p:nvPr/>
        </p:nvSpPr>
        <p:spPr>
          <a:xfrm>
            <a:off x="3200400" y="5513760"/>
            <a:ext cx="360" cy="182880"/>
          </a:xfrm>
          <a:prstGeom prst="line">
            <a:avLst/>
          </a:prstGeom>
          <a:ln w="15875">
            <a:solidFill>
              <a:srgbClr val="5F6B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Étape Enregistrement"/>
          <p:cNvSpPr/>
          <p:nvPr/>
        </p:nvSpPr>
        <p:spPr>
          <a:xfrm>
            <a:off x="1097280" y="5696640"/>
            <a:ext cx="4205880" cy="52992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rgbClr val="5F6B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Enregistrement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journée complète, transaction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Cadre décision"/>
          <p:cNvSpPr/>
          <p:nvPr/>
        </p:nvSpPr>
        <p:spPr>
          <a:xfrm>
            <a:off x="6766560" y="2743200"/>
            <a:ext cx="4480200" cy="301716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 w="12700">
            <a:solidFill>
              <a:srgbClr val="5F6B6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itre cadre"/>
          <p:cNvSpPr/>
          <p:nvPr/>
        </p:nvSpPr>
        <p:spPr>
          <a:xfrm>
            <a:off x="6949440" y="2834640"/>
            <a:ext cx="4114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Décision pour un voyage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utilisée par construction, ALNS, complétion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Décision Règles dures"/>
          <p:cNvSpPr/>
          <p:nvPr/>
        </p:nvSpPr>
        <p:spPr>
          <a:xfrm>
            <a:off x="7223760" y="3657600"/>
            <a:ext cx="3565800" cy="50256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Règles dures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lèche décision 1"/>
          <p:cNvSpPr/>
          <p:nvPr/>
        </p:nvSpPr>
        <p:spPr>
          <a:xfrm>
            <a:off x="9006840" y="4160520"/>
            <a:ext cx="360" cy="182880"/>
          </a:xfrm>
          <a:prstGeom prst="line">
            <a:avLst/>
          </a:prstGeom>
          <a:ln w="15875">
            <a:solidFill>
              <a:srgbClr val="5F6B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Décision Score souple"/>
          <p:cNvSpPr/>
          <p:nvPr/>
        </p:nvSpPr>
        <p:spPr>
          <a:xfrm>
            <a:off x="7223760" y="4343400"/>
            <a:ext cx="3565800" cy="50256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Score souple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lèche décision 2"/>
          <p:cNvSpPr/>
          <p:nvPr/>
        </p:nvSpPr>
        <p:spPr>
          <a:xfrm>
            <a:off x="9006840" y="4846320"/>
            <a:ext cx="360" cy="182880"/>
          </a:xfrm>
          <a:prstGeom prst="line">
            <a:avLst/>
          </a:prstGeom>
          <a:ln w="15875">
            <a:solidFill>
              <a:srgbClr val="5F6B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Décision Meilleur bus + 2 agents"/>
          <p:cNvSpPr/>
          <p:nvPr/>
        </p:nvSpPr>
        <p:spPr>
          <a:xfrm>
            <a:off x="7223760" y="5029200"/>
            <a:ext cx="3565800" cy="50256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Meilleur bus + 2 agents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Lien construction"/>
          <p:cNvSpPr/>
          <p:nvPr/>
        </p:nvSpPr>
        <p:spPr>
          <a:xfrm>
            <a:off x="5303520" y="3108960"/>
            <a:ext cx="1463040" cy="360"/>
          </a:xfrm>
          <a:prstGeom prst="line">
            <a:avLst/>
          </a:prstGeom>
          <a:ln w="12700">
            <a:solidFill>
              <a:srgbClr val="5F6B6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6"/>
          </p:nvPr>
        </p:nvSpPr>
        <p:spPr>
          <a:xfrm>
            <a:off x="1115568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B5F46FD-BE1D-4E11-A34C-B20B8A290CD6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Le modèle métier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Agent fond"/>
          <p:cNvSpPr/>
          <p:nvPr/>
        </p:nvSpPr>
        <p:spPr>
          <a:xfrm>
            <a:off x="548640" y="1463040"/>
            <a:ext cx="5440320" cy="223992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6350">
            <a:solidFill>
              <a:srgbClr val="F1F3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Agent pastille"/>
          <p:cNvSpPr/>
          <p:nvPr/>
        </p:nvSpPr>
        <p:spPr>
          <a:xfrm>
            <a:off x="822960" y="173736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Agent titre"/>
          <p:cNvSpPr/>
          <p:nvPr/>
        </p:nvSpPr>
        <p:spPr>
          <a:xfrm>
            <a:off x="1463040" y="171900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Agent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Agent texte"/>
          <p:cNvSpPr/>
          <p:nvPr/>
        </p:nvSpPr>
        <p:spPr>
          <a:xfrm>
            <a:off x="822960" y="2423160"/>
            <a:ext cx="4891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Rôle : chauffeur, receveur, polyvalent ou autre. Jour de repos, centre et délégation d'affectation.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Bus fond"/>
          <p:cNvSpPr/>
          <p:nvPr/>
        </p:nvSpPr>
        <p:spPr>
          <a:xfrm>
            <a:off x="6172200" y="1463040"/>
            <a:ext cx="5440320" cy="223992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6350">
            <a:solidFill>
              <a:srgbClr val="F1F3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Bus pastille"/>
          <p:cNvSpPr/>
          <p:nvPr/>
        </p:nvSpPr>
        <p:spPr>
          <a:xfrm>
            <a:off x="6446520" y="173736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Bus titre"/>
          <p:cNvSpPr/>
          <p:nvPr/>
        </p:nvSpPr>
        <p:spPr>
          <a:xfrm>
            <a:off x="7086600" y="171900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Bus texte"/>
          <p:cNvSpPr/>
          <p:nvPr/>
        </p:nvSpPr>
        <p:spPr>
          <a:xfrm>
            <a:off x="6446520" y="2423160"/>
            <a:ext cx="4891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Actif ou non, places assises et debout, catégorie, centre, délégation, date de mise en service.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Voyage fond"/>
          <p:cNvSpPr/>
          <p:nvPr/>
        </p:nvSpPr>
        <p:spPr>
          <a:xfrm>
            <a:off x="548640" y="3931920"/>
            <a:ext cx="5440320" cy="223992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6350">
            <a:solidFill>
              <a:srgbClr val="F1F3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Voyage pastille"/>
          <p:cNvSpPr/>
          <p:nvPr/>
        </p:nvSpPr>
        <p:spPr>
          <a:xfrm>
            <a:off x="822960" y="4206240"/>
            <a:ext cx="502560" cy="50256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Voyage titre"/>
          <p:cNvSpPr/>
          <p:nvPr/>
        </p:nvSpPr>
        <p:spPr>
          <a:xfrm>
            <a:off x="1463040" y="418788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Voyage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Voyage texte"/>
          <p:cNvSpPr/>
          <p:nvPr/>
        </p:nvSpPr>
        <p:spPr>
          <a:xfrm>
            <a:off x="822960" y="4892040"/>
            <a:ext cx="4891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Ligne, départ, arrivée, kilomètres, stations. Intervalle [départ, arrivée[ : deux voyages bout à bout ne se chevauchent pas.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Carnet fond"/>
          <p:cNvSpPr/>
          <p:nvPr/>
        </p:nvSpPr>
        <p:spPr>
          <a:xfrm>
            <a:off x="6172200" y="3931920"/>
            <a:ext cx="5440320" cy="223992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6350">
            <a:solidFill>
              <a:srgbClr val="F1F3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Carnet pastille"/>
          <p:cNvSpPr/>
          <p:nvPr/>
        </p:nvSpPr>
        <p:spPr>
          <a:xfrm>
            <a:off x="6446520" y="4206240"/>
            <a:ext cx="502560" cy="50256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4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Carnet titre"/>
          <p:cNvSpPr/>
          <p:nvPr/>
        </p:nvSpPr>
        <p:spPr>
          <a:xfrm>
            <a:off x="7086600" y="418788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Carnet de plannings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Carnet texte"/>
          <p:cNvSpPr/>
          <p:nvPr/>
        </p:nvSpPr>
        <p:spPr>
          <a:xfrm>
            <a:off x="6446520" y="4892040"/>
            <a:ext cx="4891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 planning par bus et un seul par agent : personne n'est chauffeur et receveur en même temps.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7"/>
          </p:nvPr>
        </p:nvSpPr>
        <p:spPr>
          <a:xfrm>
            <a:off x="1115568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5C3EC41-C27F-4558-BE1A-B983DDA73F53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Contraintes dures et souples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Désactivée fond"/>
          <p:cNvSpPr/>
          <p:nvPr/>
        </p:nvSpPr>
        <p:spPr>
          <a:xfrm>
            <a:off x="548640" y="1463040"/>
            <a:ext cx="3520080" cy="338292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6350">
            <a:solidFill>
              <a:srgbClr val="F1F3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Désactivée pastille"/>
          <p:cNvSpPr/>
          <p:nvPr/>
        </p:nvSpPr>
        <p:spPr>
          <a:xfrm>
            <a:off x="822960" y="1737360"/>
            <a:ext cx="502560" cy="50256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0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Désactivée titre"/>
          <p:cNvSpPr/>
          <p:nvPr/>
        </p:nvSpPr>
        <p:spPr>
          <a:xfrm>
            <a:off x="1463040" y="1719000"/>
            <a:ext cx="2422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Désactivée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Désactivée texte"/>
          <p:cNvSpPr/>
          <p:nvPr/>
        </p:nvSpPr>
        <p:spPr>
          <a:xfrm>
            <a:off x="822960" y="2423160"/>
            <a:ext cx="297144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règle est ignorée. Seuls le chevauchement et le bus inactif restent verrouillés.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Dure fond"/>
          <p:cNvSpPr/>
          <p:nvPr/>
        </p:nvSpPr>
        <p:spPr>
          <a:xfrm>
            <a:off x="4334400" y="1463040"/>
            <a:ext cx="3520080" cy="3382920"/>
          </a:xfrm>
          <a:prstGeom prst="roundRect">
            <a:avLst>
              <a:gd name="adj" fmla="val 2703"/>
            </a:avLst>
          </a:prstGeom>
          <a:solidFill>
            <a:schemeClr val="accent5"/>
          </a:solidFill>
          <a:ln w="6350">
            <a:solidFill>
              <a:srgbClr val="E1F5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Dure pastille"/>
          <p:cNvSpPr/>
          <p:nvPr/>
        </p:nvSpPr>
        <p:spPr>
          <a:xfrm>
            <a:off x="4608720" y="173736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!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Dure titre"/>
          <p:cNvSpPr/>
          <p:nvPr/>
        </p:nvSpPr>
        <p:spPr>
          <a:xfrm>
            <a:off x="5248800" y="1719000"/>
            <a:ext cx="2422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Dure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Dure texte"/>
          <p:cNvSpPr/>
          <p:nvPr/>
        </p:nvSpPr>
        <p:spPr>
          <a:xfrm>
            <a:off x="4608720" y="2423160"/>
            <a:ext cx="297144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Un candidat qui la viole est éliminé, aucun score ne compense. Ex. : jour de repos, 8 h par jour, repos de 30 min, amplitude 12 h, 500 km par bus.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ouple fond"/>
          <p:cNvSpPr/>
          <p:nvPr/>
        </p:nvSpPr>
        <p:spPr>
          <a:xfrm>
            <a:off x="8119800" y="1463040"/>
            <a:ext cx="3520080" cy="3382920"/>
          </a:xfrm>
          <a:prstGeom prst="roundRect">
            <a:avLst>
              <a:gd name="adj" fmla="val 2703"/>
            </a:avLst>
          </a:prstGeom>
          <a:solidFill>
            <a:schemeClr val="accent6"/>
          </a:solidFill>
          <a:ln w="6350">
            <a:solidFill>
              <a:srgbClr val="EEED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ouple pastille"/>
          <p:cNvSpPr/>
          <p:nvPr/>
        </p:nvSpPr>
        <p:spPr>
          <a:xfrm>
            <a:off x="8394120" y="1737360"/>
            <a:ext cx="502560" cy="50256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~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ouple titre"/>
          <p:cNvSpPr/>
          <p:nvPr/>
        </p:nvSpPr>
        <p:spPr>
          <a:xfrm>
            <a:off x="9034200" y="1719000"/>
            <a:ext cx="2422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Souple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ouple texte"/>
          <p:cNvSpPr/>
          <p:nvPr/>
        </p:nvSpPr>
        <p:spPr>
          <a:xfrm>
            <a:off x="8394120" y="2423160"/>
            <a:ext cx="297144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Valeur de 0 à 1 multipliée par un poids : 1 idéal, 0,5 inconnu. Ex. : peu de voyages, continuité de station, repos élevé.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Chiffre 28"/>
          <p:cNvSpPr/>
          <p:nvPr/>
        </p:nvSpPr>
        <p:spPr>
          <a:xfrm>
            <a:off x="548640" y="5120640"/>
            <a:ext cx="1828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28</a:t>
            </a:r>
            <a:endParaRPr lang="fr-F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Légende 28"/>
          <p:cNvSpPr/>
          <p:nvPr/>
        </p:nvSpPr>
        <p:spPr>
          <a:xfrm>
            <a:off x="2468880" y="512064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contraintes au catalogue (15 pour les bus, 13 pour les agents). Changer un mode ou un poids ne demande aucun code.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8"/>
          </p:nvPr>
        </p:nvSpPr>
        <p:spPr>
          <a:xfrm>
            <a:off x="1115568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7A81E4D-8FE8-4E7B-B342-F66EF5BC0916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Décision pour un voyage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Étape Candidats"/>
          <p:cNvSpPr/>
          <p:nvPr/>
        </p:nvSpPr>
        <p:spPr>
          <a:xfrm>
            <a:off x="548640" y="1554480"/>
            <a:ext cx="2605680" cy="228564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astille Candidats"/>
          <p:cNvSpPr/>
          <p:nvPr/>
        </p:nvSpPr>
        <p:spPr>
          <a:xfrm>
            <a:off x="777240" y="178308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itre Candidats"/>
          <p:cNvSpPr/>
          <p:nvPr/>
        </p:nvSpPr>
        <p:spPr>
          <a:xfrm>
            <a:off x="777240" y="242316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Candidats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e Candidats"/>
          <p:cNvSpPr/>
          <p:nvPr/>
        </p:nvSpPr>
        <p:spPr>
          <a:xfrm>
            <a:off x="777240" y="283464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Tous les bus, agents aptes au poste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Étape Règles dures"/>
          <p:cNvSpPr/>
          <p:nvPr/>
        </p:nvSpPr>
        <p:spPr>
          <a:xfrm>
            <a:off x="3383280" y="1554480"/>
            <a:ext cx="2605680" cy="2285640"/>
          </a:xfrm>
          <a:prstGeom prst="roundRect">
            <a:avLst>
              <a:gd name="adj" fmla="val 4000"/>
            </a:avLst>
          </a:prstGeom>
          <a:solidFill>
            <a:schemeClr val="accent5"/>
          </a:solidFill>
          <a:ln w="9525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astille Règles dures"/>
          <p:cNvSpPr/>
          <p:nvPr/>
        </p:nvSpPr>
        <p:spPr>
          <a:xfrm>
            <a:off x="3611880" y="178308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itre Règles dures"/>
          <p:cNvSpPr/>
          <p:nvPr/>
        </p:nvSpPr>
        <p:spPr>
          <a:xfrm>
            <a:off x="3611880" y="242316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Règles dures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e Règles dures"/>
          <p:cNvSpPr/>
          <p:nvPr/>
        </p:nvSpPr>
        <p:spPr>
          <a:xfrm>
            <a:off x="3611880" y="283464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Première violation : rejet, compté par code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Étape Score souple"/>
          <p:cNvSpPr/>
          <p:nvPr/>
        </p:nvSpPr>
        <p:spPr>
          <a:xfrm>
            <a:off x="6217920" y="1554480"/>
            <a:ext cx="2605680" cy="228564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astille Score souple"/>
          <p:cNvSpPr/>
          <p:nvPr/>
        </p:nvSpPr>
        <p:spPr>
          <a:xfrm>
            <a:off x="6446520" y="178308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itre Score souple"/>
          <p:cNvSpPr/>
          <p:nvPr/>
        </p:nvSpPr>
        <p:spPr>
          <a:xfrm>
            <a:off x="6446520" y="242316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Score souple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e Score souple"/>
          <p:cNvSpPr/>
          <p:nvPr/>
        </p:nvSpPr>
        <p:spPr>
          <a:xfrm>
            <a:off x="6446520" y="283464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Σ poids × valeur, tri stable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Étape Triplet"/>
          <p:cNvSpPr/>
          <p:nvPr/>
        </p:nvSpPr>
        <p:spPr>
          <a:xfrm>
            <a:off x="9052560" y="1554480"/>
            <a:ext cx="2605680" cy="2285640"/>
          </a:xfrm>
          <a:prstGeom prst="roundRect">
            <a:avLst>
              <a:gd name="adj" fmla="val 4000"/>
            </a:avLst>
          </a:prstGeom>
          <a:solidFill>
            <a:schemeClr val="accent5"/>
          </a:solidFill>
          <a:ln w="9525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astille Triplet"/>
          <p:cNvSpPr/>
          <p:nvPr/>
        </p:nvSpPr>
        <p:spPr>
          <a:xfrm>
            <a:off x="9281160" y="178308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4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itre Triplet"/>
          <p:cNvSpPr/>
          <p:nvPr/>
        </p:nvSpPr>
        <p:spPr>
          <a:xfrm>
            <a:off x="9281160" y="242316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Triplet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e Triplet"/>
          <p:cNvSpPr/>
          <p:nvPr/>
        </p:nvSpPr>
        <p:spPr>
          <a:xfrm>
            <a:off x="9281160" y="283464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Meilleur bus, chauffeur, receveur ≠ chauffeur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out ou rien fond"/>
          <p:cNvSpPr/>
          <p:nvPr/>
        </p:nvSpPr>
        <p:spPr>
          <a:xfrm>
            <a:off x="548640" y="4114800"/>
            <a:ext cx="5440320" cy="2102760"/>
          </a:xfrm>
          <a:prstGeom prst="roundRect">
            <a:avLst>
              <a:gd name="adj" fmla="val 4348"/>
            </a:avLst>
          </a:prstGeom>
          <a:solidFill>
            <a:schemeClr val="accent5"/>
          </a:solidFill>
          <a:ln w="6350">
            <a:solidFill>
              <a:srgbClr val="E1F5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out ou rien pastille"/>
          <p:cNvSpPr/>
          <p:nvPr/>
        </p:nvSpPr>
        <p:spPr>
          <a:xfrm>
            <a:off x="822960" y="438912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!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out ou rien titre"/>
          <p:cNvSpPr/>
          <p:nvPr/>
        </p:nvSpPr>
        <p:spPr>
          <a:xfrm>
            <a:off x="1463040" y="437076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Tout ou rien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out ou rien texte"/>
          <p:cNvSpPr/>
          <p:nvPr/>
        </p:nvSpPr>
        <p:spPr>
          <a:xfrm>
            <a:off x="822960" y="5074920"/>
            <a:ext cx="4891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Sans bus, chauffeur ou receveur valide, le voyage reste non affecté et les causes de rejet sont listées.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Difficulté fond"/>
          <p:cNvSpPr/>
          <p:nvPr/>
        </p:nvSpPr>
        <p:spPr>
          <a:xfrm>
            <a:off x="6172200" y="4114800"/>
            <a:ext cx="5440320" cy="2102760"/>
          </a:xfrm>
          <a:prstGeom prst="roundRect">
            <a:avLst>
              <a:gd name="adj" fmla="val 4348"/>
            </a:avLst>
          </a:prstGeom>
          <a:solidFill>
            <a:schemeClr val="accent6"/>
          </a:solidFill>
          <a:ln w="6350">
            <a:solidFill>
              <a:srgbClr val="EEED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Difficulté pastille"/>
          <p:cNvSpPr/>
          <p:nvPr/>
        </p:nvSpPr>
        <p:spPr>
          <a:xfrm>
            <a:off x="6446520" y="4389120"/>
            <a:ext cx="502560" cy="50256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?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Difficulté titre"/>
          <p:cNvSpPr/>
          <p:nvPr/>
        </p:nvSpPr>
        <p:spPr>
          <a:xfrm>
            <a:off x="7086600" y="437076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Difficulté d'un voyage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Difficulté texte"/>
          <p:cNvSpPr/>
          <p:nvPr/>
        </p:nvSpPr>
        <p:spPr>
          <a:xfrm>
            <a:off x="6446520" y="5074920"/>
            <a:ext cx="4891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min(bus, chauffeurs, receveurs, ½ agents distincts) éligibles : le plus contraint est traité en premier.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ldNum" idx="9"/>
          </p:nvPr>
        </p:nvSpPr>
        <p:spPr>
          <a:xfrm>
            <a:off x="1115568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A5D0C41-CCA3-410A-96A7-839A144C66CA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Pseudo-code : EssayerAffecter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anneau code"/>
          <p:cNvSpPr/>
          <p:nvPr/>
        </p:nvSpPr>
        <p:spPr>
          <a:xfrm>
            <a:off x="548640" y="1463040"/>
            <a:ext cx="6949080" cy="4754520"/>
          </a:xfrm>
          <a:prstGeom prst="roundRect">
            <a:avLst>
              <a:gd name="adj" fmla="val 1923"/>
            </a:avLst>
          </a:prstGeom>
          <a:solidFill>
            <a:schemeClr val="tx2"/>
          </a:solidFill>
          <a:ln w="6350">
            <a:solidFill>
              <a:srgbClr val="0B3C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Code"/>
          <p:cNvSpPr/>
          <p:nvPr/>
        </p:nvSpPr>
        <p:spPr>
          <a:xfrm>
            <a:off x="822960" y="1691640"/>
            <a:ext cx="640044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EssayerAffecter(voyage)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bus        = Sélectionner(bus).meilleur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chauffeurs = Sélectionner(agents conducteurs)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receveurs  = Sélectionner(agents receveurs)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chauffeur  = chauffeurs.meilleur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receveur   = premier receveur ≠ chauffeur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SI bus, chauffeur ou receveur manque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    RETOURNER échec + rejets par règle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RETOURNER affectation (score total)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Sélectionner(candidats)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POUR chaque candidat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  SI règle dure violée : rejet, suivant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  score = Σ poids × valeur souple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TRIER par score décroissant, puis Id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marques code"/>
          <p:cNvSpPr/>
          <p:nvPr/>
        </p:nvSpPr>
        <p:spPr>
          <a:xfrm>
            <a:off x="7863840" y="1645920"/>
            <a:ext cx="374868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A2F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 modifie jamais le planning : l'appelant fait Affecter.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A2F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Tri stable (score, puis Id) : résultat reproductible.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A2F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 bruit aléatoire n'est ajouté que dans l'ALNS.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ldNum" idx="10"/>
          </p:nvPr>
        </p:nvSpPr>
        <p:spPr>
          <a:xfrm>
            <a:off x="1115568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88B8ED4-41C5-4320-A6C4-E7483BFB9F2C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Faisabilité et construction du plan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Diagnostic fond"/>
          <p:cNvSpPr/>
          <p:nvPr/>
        </p:nvSpPr>
        <p:spPr>
          <a:xfrm>
            <a:off x="548640" y="1463040"/>
            <a:ext cx="3520080" cy="356580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6350">
            <a:solidFill>
              <a:srgbClr val="F1F3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Diagnostic pastille"/>
          <p:cNvSpPr/>
          <p:nvPr/>
        </p:nvSpPr>
        <p:spPr>
          <a:xfrm>
            <a:off x="822960" y="1737360"/>
            <a:ext cx="502560" cy="50256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Diagnostic titre"/>
          <p:cNvSpPr/>
          <p:nvPr/>
        </p:nvSpPr>
        <p:spPr>
          <a:xfrm>
            <a:off x="1463040" y="1719000"/>
            <a:ext cx="2422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Diagnostic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Diagnostic texte"/>
          <p:cNvSpPr/>
          <p:nvPr/>
        </p:nvSpPr>
        <p:spPr>
          <a:xfrm>
            <a:off x="822960" y="2423160"/>
            <a:ext cx="297144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pic de voyages simultanés est comparé aux bus actifs, aux agents disponibles et aux heures de travail. Chaque ligne : suffisant ou insuffisant.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louton fond"/>
          <p:cNvSpPr/>
          <p:nvPr/>
        </p:nvSpPr>
        <p:spPr>
          <a:xfrm>
            <a:off x="4334400" y="1463040"/>
            <a:ext cx="3520080" cy="356580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6350">
            <a:solidFill>
              <a:srgbClr val="F1F3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louton pastille"/>
          <p:cNvSpPr/>
          <p:nvPr/>
        </p:nvSpPr>
        <p:spPr>
          <a:xfrm>
            <a:off x="4608720" y="173736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Glouton titre"/>
          <p:cNvSpPr/>
          <p:nvPr/>
        </p:nvSpPr>
        <p:spPr>
          <a:xfrm>
            <a:off x="5248800" y="1719000"/>
            <a:ext cx="2422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Glouton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louton texte"/>
          <p:cNvSpPr/>
          <p:nvPr/>
        </p:nvSpPr>
        <p:spPr>
          <a:xfrm>
            <a:off x="4608720" y="2423160"/>
            <a:ext cx="297144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Voyages triés par heure de départ, chacun reçoit le meilleur triplet disponible. Sert de référence de comparaison.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ar phases fond"/>
          <p:cNvSpPr/>
          <p:nvPr/>
        </p:nvSpPr>
        <p:spPr>
          <a:xfrm>
            <a:off x="8119800" y="1463040"/>
            <a:ext cx="3520080" cy="3565800"/>
          </a:xfrm>
          <a:prstGeom prst="roundRect">
            <a:avLst>
              <a:gd name="adj" fmla="val 2597"/>
            </a:avLst>
          </a:prstGeom>
          <a:solidFill>
            <a:schemeClr val="accent5"/>
          </a:solidFill>
          <a:ln w="6350">
            <a:solidFill>
              <a:srgbClr val="E1F5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ar phases pastille"/>
          <p:cNvSpPr/>
          <p:nvPr/>
        </p:nvSpPr>
        <p:spPr>
          <a:xfrm>
            <a:off x="8394120" y="173736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Par phases titre"/>
          <p:cNvSpPr/>
          <p:nvPr/>
        </p:nvSpPr>
        <p:spPr>
          <a:xfrm>
            <a:off x="9034200" y="1719000"/>
            <a:ext cx="2422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Par phases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ar phases texte"/>
          <p:cNvSpPr/>
          <p:nvPr/>
        </p:nvSpPr>
        <p:spPr>
          <a:xfrm>
            <a:off x="8394120" y="2423160"/>
            <a:ext cx="297144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Tension d'un type de ligne = pic simultané ÷ bus compatibles. Les types les plus tendus passent d'abord, puis les voyages les plus contraints.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onclusion construction"/>
          <p:cNvSpPr/>
          <p:nvPr/>
        </p:nvSpPr>
        <p:spPr>
          <a:xfrm>
            <a:off x="548640" y="530352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Les deux stratégies partagent le même état et la même décision par voyage ; seul l'ordre de traitement change.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ldNum" idx="11"/>
          </p:nvPr>
        </p:nvSpPr>
        <p:spPr>
          <a:xfrm>
            <a:off x="1115568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F162B06-4B2E-44B6-BA2E-434463B5EE6E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Fonction objectif à minimiser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Fond terme 1"/>
          <p:cNvSpPr/>
          <p:nvPr/>
        </p:nvSpPr>
        <p:spPr>
          <a:xfrm>
            <a:off x="548640" y="1554480"/>
            <a:ext cx="3520080" cy="2925720"/>
          </a:xfrm>
          <a:prstGeom prst="roundRect">
            <a:avLst>
              <a:gd name="adj" fmla="val 3125"/>
            </a:avLst>
          </a:prstGeom>
          <a:solidFill>
            <a:schemeClr val="accent5"/>
          </a:solidFill>
          <a:ln w="6350">
            <a:solidFill>
              <a:srgbClr val="E1F5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Valeur terme 1"/>
          <p:cNvSpPr/>
          <p:nvPr/>
        </p:nvSpPr>
        <p:spPr>
          <a:xfrm>
            <a:off x="822960" y="1828800"/>
            <a:ext cx="2971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100 000</a:t>
            </a:r>
            <a:endParaRPr lang="fr-F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Légende terme 1"/>
          <p:cNvSpPr/>
          <p:nvPr/>
        </p:nvSpPr>
        <p:spPr>
          <a:xfrm>
            <a:off x="822960" y="3200400"/>
            <a:ext cx="2971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× voyages non affectés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Fond terme 2"/>
          <p:cNvSpPr/>
          <p:nvPr/>
        </p:nvSpPr>
        <p:spPr>
          <a:xfrm>
            <a:off x="4334400" y="1554480"/>
            <a:ext cx="3520080" cy="2925720"/>
          </a:xfrm>
          <a:prstGeom prst="roundRect">
            <a:avLst>
              <a:gd name="adj" fmla="val 3125"/>
            </a:avLst>
          </a:prstGeom>
          <a:solidFill>
            <a:schemeClr val="accent6"/>
          </a:solidFill>
          <a:ln w="6350">
            <a:solidFill>
              <a:srgbClr val="EEED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Valeur terme 2"/>
          <p:cNvSpPr/>
          <p:nvPr/>
        </p:nvSpPr>
        <p:spPr>
          <a:xfrm>
            <a:off x="4608720" y="1828800"/>
            <a:ext cx="2971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Σ</a:t>
            </a:r>
            <a:endParaRPr lang="fr-F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Légende terme 2"/>
          <p:cNvSpPr/>
          <p:nvPr/>
        </p:nvSpPr>
        <p:spPr>
          <a:xfrm>
            <a:off x="4608720" y="3200400"/>
            <a:ext cx="2971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(score max − score) des affectations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Fond terme 3"/>
          <p:cNvSpPr/>
          <p:nvPr/>
        </p:nvSpPr>
        <p:spPr>
          <a:xfrm>
            <a:off x="8119800" y="1554480"/>
            <a:ext cx="3520080" cy="292572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6350">
            <a:solidFill>
              <a:srgbClr val="F1F3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Valeur terme 3"/>
          <p:cNvSpPr/>
          <p:nvPr/>
        </p:nvSpPr>
        <p:spPr>
          <a:xfrm>
            <a:off x="8394120" y="1828800"/>
            <a:ext cx="2971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10 ×</a:t>
            </a:r>
            <a:endParaRPr lang="fr-F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Légende terme 3"/>
          <p:cNvSpPr/>
          <p:nvPr/>
        </p:nvSpPr>
        <p:spPr>
          <a:xfrm>
            <a:off x="8394120" y="3200400"/>
            <a:ext cx="2971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écart-type des heures des agents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rincipe objectif"/>
          <p:cNvSpPr/>
          <p:nvPr/>
        </p:nvSpPr>
        <p:spPr>
          <a:xfrm>
            <a:off x="548640" y="493776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La pénalité domine tout : un meilleur score n'est jamais obtenu en perdant un voyage.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ldNum" idx="12"/>
          </p:nvPr>
        </p:nvSpPr>
        <p:spPr>
          <a:xfrm>
            <a:off x="1115568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0DA9346-BC84-42EB-95C0-6787A7F38BC2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Amélioration : ALNS et recuit simulé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hase Cloner le plan"/>
          <p:cNvSpPr/>
          <p:nvPr/>
        </p:nvSpPr>
        <p:spPr>
          <a:xfrm>
            <a:off x="548640" y="1554480"/>
            <a:ext cx="2011320" cy="82260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Cloner le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Flèche ALNS 1"/>
          <p:cNvSpPr/>
          <p:nvPr/>
        </p:nvSpPr>
        <p:spPr>
          <a:xfrm>
            <a:off x="2560320" y="1965960"/>
            <a:ext cx="274320" cy="360"/>
          </a:xfrm>
          <a:prstGeom prst="line">
            <a:avLst/>
          </a:prstGeom>
          <a:ln w="15875">
            <a:solidFill>
              <a:srgbClr val="5F6B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hase Détruire 5 à 15 %"/>
          <p:cNvSpPr/>
          <p:nvPr/>
        </p:nvSpPr>
        <p:spPr>
          <a:xfrm>
            <a:off x="2834640" y="1554480"/>
            <a:ext cx="2011320" cy="82260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Détruire 5 à 15 %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Flèche ALNS 2"/>
          <p:cNvSpPr/>
          <p:nvPr/>
        </p:nvSpPr>
        <p:spPr>
          <a:xfrm>
            <a:off x="4846320" y="1965960"/>
            <a:ext cx="274320" cy="360"/>
          </a:xfrm>
          <a:prstGeom prst="line">
            <a:avLst/>
          </a:prstGeom>
          <a:ln w="15875">
            <a:solidFill>
              <a:srgbClr val="5F6B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hase Réparer (règles dures)"/>
          <p:cNvSpPr/>
          <p:nvPr/>
        </p:nvSpPr>
        <p:spPr>
          <a:xfrm>
            <a:off x="5120640" y="1554480"/>
            <a:ext cx="2011320" cy="82260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Réparer (règles dures)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Flèche ALNS 3"/>
          <p:cNvSpPr/>
          <p:nvPr/>
        </p:nvSpPr>
        <p:spPr>
          <a:xfrm>
            <a:off x="7132320" y="1965960"/>
            <a:ext cx="274320" cy="360"/>
          </a:xfrm>
          <a:prstGeom prst="line">
            <a:avLst/>
          </a:prstGeom>
          <a:ln w="15875">
            <a:solidFill>
              <a:srgbClr val="5F6B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hase Accepter selon exp(−Δ/T)"/>
          <p:cNvSpPr/>
          <p:nvPr/>
        </p:nvSpPr>
        <p:spPr>
          <a:xfrm>
            <a:off x="7406640" y="1554480"/>
            <a:ext cx="2011320" cy="82260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Accepter selon exp(−Δ/T)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Flèche ALNS 4"/>
          <p:cNvSpPr/>
          <p:nvPr/>
        </p:nvSpPr>
        <p:spPr>
          <a:xfrm>
            <a:off x="9418320" y="1965960"/>
            <a:ext cx="274320" cy="360"/>
          </a:xfrm>
          <a:prstGeom prst="line">
            <a:avLst/>
          </a:prstGeom>
          <a:ln w="15875">
            <a:solidFill>
              <a:srgbClr val="5F6B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hase Adapter les poids"/>
          <p:cNvSpPr/>
          <p:nvPr/>
        </p:nvSpPr>
        <p:spPr>
          <a:xfrm>
            <a:off x="9692640" y="1554480"/>
            <a:ext cx="2011320" cy="82260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Adapter les poids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Destruction fond"/>
          <p:cNvSpPr/>
          <p:nvPr/>
        </p:nvSpPr>
        <p:spPr>
          <a:xfrm>
            <a:off x="548640" y="2743200"/>
            <a:ext cx="5440320" cy="237708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6350">
            <a:solidFill>
              <a:srgbClr val="F1F3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Destruction pastille"/>
          <p:cNvSpPr/>
          <p:nvPr/>
        </p:nvSpPr>
        <p:spPr>
          <a:xfrm>
            <a:off x="822960" y="3017520"/>
            <a:ext cx="502560" cy="50256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Destruction titre"/>
          <p:cNvSpPr/>
          <p:nvPr/>
        </p:nvSpPr>
        <p:spPr>
          <a:xfrm>
            <a:off x="1463040" y="299916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Destruction (4)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Destruction texte"/>
          <p:cNvSpPr/>
          <p:nvPr/>
        </p:nvSpPr>
        <p:spPr>
          <a:xfrm>
            <a:off x="822960" y="3703320"/>
            <a:ext cx="48916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Aléatoire, pires scores, voisinage temporel, par ressource (vider un bus ou un agent).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éparation fond"/>
          <p:cNvSpPr/>
          <p:nvPr/>
        </p:nvSpPr>
        <p:spPr>
          <a:xfrm>
            <a:off x="6172200" y="2743200"/>
            <a:ext cx="5440320" cy="237708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6350">
            <a:solidFill>
              <a:srgbClr val="F1F3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éparation pastille"/>
          <p:cNvSpPr/>
          <p:nvPr/>
        </p:nvSpPr>
        <p:spPr>
          <a:xfrm>
            <a:off x="6446520" y="301752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éparation titre"/>
          <p:cNvSpPr/>
          <p:nvPr/>
        </p:nvSpPr>
        <p:spPr>
          <a:xfrm>
            <a:off x="7086600" y="299916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Réparation (3)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éparation texte"/>
          <p:cNvSpPr/>
          <p:nvPr/>
        </p:nvSpPr>
        <p:spPr>
          <a:xfrm>
            <a:off x="6446520" y="3703320"/>
            <a:ext cx="48916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Chronologique, plus contraint d'abord, ordre aléatoire. Les deux derniers ajoutent du bruit.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ésultats démo"/>
          <p:cNvSpPr/>
          <p:nvPr/>
        </p:nvSpPr>
        <p:spPr>
          <a:xfrm>
            <a:off x="548640" y="53949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Les opérateurs efficaces sont tirés plus souvent. Démo : glouton 34/36, phases 35/36, ALNS 36/36 voyages affectés.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sldNum" idx="13"/>
          </p:nvPr>
        </p:nvSpPr>
        <p:spPr>
          <a:xfrm>
            <a:off x="1115568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F5E5450-B13F-425B-B398-BF62C11F6595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Garde-fous avant d'enregistrer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Fond Contrôle indépendant"/>
          <p:cNvSpPr/>
          <p:nvPr/>
        </p:nvSpPr>
        <p:spPr>
          <a:xfrm>
            <a:off x="548640" y="1554480"/>
            <a:ext cx="5440320" cy="2194200"/>
          </a:xfrm>
          <a:prstGeom prst="roundRect">
            <a:avLst>
              <a:gd name="adj" fmla="val 4167"/>
            </a:avLst>
          </a:prstGeom>
          <a:solidFill>
            <a:schemeClr val="accent1"/>
          </a:solidFill>
          <a:ln w="635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Pastille Contrôle indépendant"/>
          <p:cNvSpPr/>
          <p:nvPr/>
        </p:nvSpPr>
        <p:spPr>
          <a:xfrm>
            <a:off x="822960" y="1828800"/>
            <a:ext cx="502560" cy="50256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itre Contrôle indépendant"/>
          <p:cNvSpPr/>
          <p:nvPr/>
        </p:nvSpPr>
        <p:spPr>
          <a:xfrm>
            <a:off x="1463040" y="181044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Contrôle indépendant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e Contrôle indépendant"/>
          <p:cNvSpPr/>
          <p:nvPr/>
        </p:nvSpPr>
        <p:spPr>
          <a:xfrm>
            <a:off x="822960" y="2514600"/>
            <a:ext cx="4891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Toutes les règles dures sont rejouées. Une violation bloque l'écriture.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Fond Journée complète"/>
          <p:cNvSpPr/>
          <p:nvPr/>
        </p:nvSpPr>
        <p:spPr>
          <a:xfrm>
            <a:off x="6172200" y="1554480"/>
            <a:ext cx="5440320" cy="2194200"/>
          </a:xfrm>
          <a:prstGeom prst="roundRect">
            <a:avLst>
              <a:gd name="adj" fmla="val 4167"/>
            </a:avLst>
          </a:prstGeom>
          <a:solidFill>
            <a:schemeClr val="accent1"/>
          </a:solidFill>
          <a:ln w="635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Pastille Journée complète"/>
          <p:cNvSpPr/>
          <p:nvPr/>
        </p:nvSpPr>
        <p:spPr>
          <a:xfrm>
            <a:off x="6446520" y="1828800"/>
            <a:ext cx="502560" cy="50256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itre Journée complète"/>
          <p:cNvSpPr/>
          <p:nvPr/>
        </p:nvSpPr>
        <p:spPr>
          <a:xfrm>
            <a:off x="7086600" y="181044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Journée complète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e Journée complète"/>
          <p:cNvSpPr/>
          <p:nvPr/>
        </p:nvSpPr>
        <p:spPr>
          <a:xfrm>
            <a:off x="6446520" y="2514600"/>
            <a:ext cx="4891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Par défaut, rien n'est écrit tant qu'un voyage reste non affecté.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Fond Transaction unique"/>
          <p:cNvSpPr/>
          <p:nvPr/>
        </p:nvSpPr>
        <p:spPr>
          <a:xfrm>
            <a:off x="548640" y="3977640"/>
            <a:ext cx="5440320" cy="2194200"/>
          </a:xfrm>
          <a:prstGeom prst="roundRect">
            <a:avLst>
              <a:gd name="adj" fmla="val 4167"/>
            </a:avLst>
          </a:prstGeom>
          <a:solidFill>
            <a:schemeClr val="accent1"/>
          </a:solidFill>
          <a:ln w="635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Pastille Transaction unique"/>
          <p:cNvSpPr/>
          <p:nvPr/>
        </p:nvSpPr>
        <p:spPr>
          <a:xfrm>
            <a:off x="822960" y="4251960"/>
            <a:ext cx="502560" cy="50256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itre Transaction unique"/>
          <p:cNvSpPr/>
          <p:nvPr/>
        </p:nvSpPr>
        <p:spPr>
          <a:xfrm>
            <a:off x="1463040" y="423360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Transaction unique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e Transaction unique"/>
          <p:cNvSpPr/>
          <p:nvPr/>
        </p:nvSpPr>
        <p:spPr>
          <a:xfrm>
            <a:off x="822960" y="4937760"/>
            <a:ext cx="4891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Seuls bus, chauffeur et receveur prévus sont écrits. Tout ou rien.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Fond Réalité protégée"/>
          <p:cNvSpPr/>
          <p:nvPr/>
        </p:nvSpPr>
        <p:spPr>
          <a:xfrm>
            <a:off x="6172200" y="3977640"/>
            <a:ext cx="5440320" cy="2194200"/>
          </a:xfrm>
          <a:prstGeom prst="roundRect">
            <a:avLst>
              <a:gd name="adj" fmla="val 4167"/>
            </a:avLst>
          </a:prstGeom>
          <a:solidFill>
            <a:schemeClr val="accent1"/>
          </a:solidFill>
          <a:ln w="635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Pastille Réalité protégée"/>
          <p:cNvSpPr/>
          <p:nvPr/>
        </p:nvSpPr>
        <p:spPr>
          <a:xfrm>
            <a:off x="6446520" y="4251960"/>
            <a:ext cx="502560" cy="50256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itre Réalité protégée"/>
          <p:cNvSpPr/>
          <p:nvPr/>
        </p:nvSpPr>
        <p:spPr>
          <a:xfrm>
            <a:off x="7086600" y="423360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Réalité protégée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e Réalité protégée"/>
          <p:cNvSpPr/>
          <p:nvPr/>
        </p:nvSpPr>
        <p:spPr>
          <a:xfrm>
            <a:off x="6446520" y="4937760"/>
            <a:ext cx="4891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Voyages réalisés verrouillés, jours passés refusés côté serveur.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sldNum" idx="14"/>
          </p:nvPr>
        </p:nvSpPr>
        <p:spPr>
          <a:xfrm>
            <a:off x="1115568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161F577-2F1A-4D09-9A46-1BD2CB23D708}" type="slidenum">
              <a:rPr lang="en-US" sz="10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&lt;numéro&gt;</a:t>
            </a:fld>
            <a:endParaRPr lang="fr-F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martPlanif">
  <a:themeElements>
    <a:clrScheme name="SmartPlanif">
      <a:dk1>
        <a:srgbClr val="1B2A2F"/>
      </a:dk1>
      <a:lt1>
        <a:srgbClr val="FFFFFF"/>
      </a:lt1>
      <a:dk2>
        <a:srgbClr val="0B3C3A"/>
      </a:dk2>
      <a:lt2>
        <a:srgbClr val="F1F3F4"/>
      </a:lt2>
      <a:accent1>
        <a:srgbClr val="0F6E56"/>
      </a:accent1>
      <a:accent2>
        <a:srgbClr val="534AB7"/>
      </a:accent2>
      <a:accent3>
        <a:srgbClr val="EF9F27"/>
      </a:accent3>
      <a:accent4>
        <a:srgbClr val="5F6B6D"/>
      </a:accent4>
      <a:accent5>
        <a:srgbClr val="E1F5EE"/>
      </a:accent5>
      <a:accent6>
        <a:srgbClr val="EEEDFE"/>
      </a:accent6>
      <a:hlink>
        <a:srgbClr val="0F6E56"/>
      </a:hlink>
      <a:folHlink>
        <a:srgbClr val="534AB7"/>
      </a:folHlink>
    </a:clrScheme>
    <a:fontScheme name="SmartPlanif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LibreOffice/26.2.5.2$Windows_X86_64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2026-10-14T09:44:33Z</dcterms:created>
  <dc:creator>PptxGenJS</dc:creator>
  <dc:description/>
  <dc:language>fr-FR</dc:language>
  <cp:lastModifiedBy/>
  <dcterms:modified xsi:type="dcterms:W3CDTF">2026-10-14T10:54:04Z</dcterms:modified>
  <cp:revision>2</cp:revision>
  <dc:subject>PptxGenJS Presentation</dc:subject>
  <dc:title>SmartPlanif - Cœur métier de l'allocation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